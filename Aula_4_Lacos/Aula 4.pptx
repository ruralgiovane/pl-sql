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Id2"/>
    <p:sldId id="321" r:id="rId3"/>
    <p:sldId id="322" r:id="rId4"/>
    <p:sldId id="323" r:id="rId5"/>
    <p:sldId id="307" r:id="rId6"/>
    <p:sldId id="308" r:id="rId7"/>
    <p:sldId id="309" r:id="rId8"/>
    <p:sldId id="310" r:id="rId9"/>
    <p:sldId id="311" r:id="rId10"/>
    <p:sldId id="312" r:id="rId11"/>
    <p:sldId id="313" r:id="rId12"/>
    <p:sldId id="314" r:id="rId13"/>
    <p:sldId id="319" r:id="rId14"/>
    <p:sldId id="318" r:id="rId15"/>
    <p:sldId id="320" r:id="rId16"/>
    <p:sldId id="316" r:id="rId17"/>
    <p:sldId id="324" r:id="rId18"/>
    <p:sldId id="317" r:id="rId19"/>
    <p:sldId id="325" r:id="rId20"/>
    <p:sldId id="326" r:id="rId21"/>
    <p:sldId id="302" r:id="rId2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459"/>
    <a:srgbClr val="701634"/>
    <a:srgbClr val="7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1700899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245322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102877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3377713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46939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4082113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849429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97730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1527433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4231040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AD9CDD4-1A3E-483C-9E96-60C82285A6A3}" type="slidenum">
              <a:rPr lang="pt-BR" smtClean="0"/>
              <a:t>‹nº›</a:t>
            </a:fld>
            <a:endParaRPr lang="pt-BR" dirty="0"/>
          </a:p>
        </p:txBody>
      </p:sp>
    </p:spTree>
    <p:extLst>
      <p:ext uri="{BB962C8B-B14F-4D97-AF65-F5344CB8AC3E}">
        <p14:creationId xmlns:p14="http://schemas.microsoft.com/office/powerpoint/2010/main" val="1603484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58241D-1181-40A2-8D23-68C1E79734C9}" type="datetimeFigureOut">
              <a:rPr lang="pt-BR" smtClean="0"/>
              <a:t>22/03/2024</a:t>
            </a:fld>
            <a:endParaRPr lang="pt-BR" dirty="0"/>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9CDD4-1A3E-483C-9E96-60C82285A6A3}" type="slidenum">
              <a:rPr lang="pt-BR" smtClean="0"/>
              <a:t>‹nº›</a:t>
            </a:fld>
            <a:endParaRPr lang="pt-BR" dirty="0"/>
          </a:p>
        </p:txBody>
      </p:sp>
    </p:spTree>
    <p:extLst>
      <p:ext uri="{BB962C8B-B14F-4D97-AF65-F5344CB8AC3E}">
        <p14:creationId xmlns:p14="http://schemas.microsoft.com/office/powerpoint/2010/main" val="1422673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3" name="CaixaDeTexto 2"/>
          <p:cNvSpPr txBox="1"/>
          <p:nvPr/>
        </p:nvSpPr>
        <p:spPr>
          <a:xfrm>
            <a:off x="1207698" y="1527717"/>
            <a:ext cx="9394165" cy="3447098"/>
          </a:xfrm>
          <a:prstGeom prst="rect">
            <a:avLst/>
          </a:prstGeom>
          <a:noFill/>
        </p:spPr>
        <p:txBody>
          <a:bodyPr wrap="square" rtlCol="0">
            <a:spAutoFit/>
          </a:bodyPr>
          <a:lstStyle/>
          <a:p>
            <a:pPr algn="ctr"/>
            <a:r>
              <a:rPr lang="pt-BR" sz="3200" dirty="0">
                <a:solidFill>
                  <a:srgbClr val="FFFF00"/>
                </a:solidFill>
              </a:rPr>
              <a:t>Agenda: </a:t>
            </a:r>
          </a:p>
          <a:p>
            <a:endParaRPr lang="pt-BR" dirty="0">
              <a:solidFill>
                <a:schemeClr val="bg1"/>
              </a:solidFill>
            </a:endParaRPr>
          </a:p>
          <a:p>
            <a:pPr marL="457200" indent="-457200">
              <a:buFont typeface="Arial" panose="020B0604020202020204" pitchFamily="34" charset="0"/>
              <a:buChar char="•"/>
            </a:pPr>
            <a:r>
              <a:rPr lang="pt-BR" sz="2800" dirty="0">
                <a:solidFill>
                  <a:schemeClr val="bg1"/>
                </a:solidFill>
              </a:rPr>
              <a:t>Apresentar os diferentes tipos de laços em PL/SQL</a:t>
            </a:r>
          </a:p>
          <a:p>
            <a:pPr marL="457200" indent="-457200">
              <a:buFont typeface="Arial" panose="020B0604020202020204" pitchFamily="34" charset="0"/>
              <a:buChar char="•"/>
            </a:pPr>
            <a:r>
              <a:rPr lang="pt-BR" sz="2800" dirty="0">
                <a:solidFill>
                  <a:schemeClr val="bg1"/>
                </a:solidFill>
              </a:rPr>
              <a:t>Demonstrar como usar os laços para controlar o fluxo de execução de um programa</a:t>
            </a:r>
          </a:p>
          <a:p>
            <a:pPr marL="457200" indent="-457200">
              <a:buFont typeface="Arial" panose="020B0604020202020204" pitchFamily="34" charset="0"/>
              <a:buChar char="•"/>
            </a:pPr>
            <a:r>
              <a:rPr lang="pt-BR" sz="2800" dirty="0">
                <a:solidFill>
                  <a:schemeClr val="bg1"/>
                </a:solidFill>
              </a:rPr>
              <a:t>Praticar a implementação de laços em PL/SQL para resolver problemas específicos</a:t>
            </a:r>
          </a:p>
          <a:p>
            <a:endParaRPr lang="pt-BR" sz="2800" dirty="0">
              <a:solidFill>
                <a:schemeClr val="bg1"/>
              </a:solidFill>
            </a:endParaRPr>
          </a:p>
        </p:txBody>
      </p:sp>
    </p:spTree>
    <p:extLst>
      <p:ext uri="{BB962C8B-B14F-4D97-AF65-F5344CB8AC3E}">
        <p14:creationId xmlns:p14="http://schemas.microsoft.com/office/powerpoint/2010/main" val="3870098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9" name="CaixaDeTexto 8">
            <a:extLst>
              <a:ext uri="{FF2B5EF4-FFF2-40B4-BE49-F238E27FC236}">
                <a16:creationId xmlns:a16="http://schemas.microsoft.com/office/drawing/2014/main" id="{B9A31C19-248B-C9DF-CB3F-42A2FD664689}"/>
              </a:ext>
            </a:extLst>
          </p:cNvPr>
          <p:cNvSpPr txBox="1"/>
          <p:nvPr/>
        </p:nvSpPr>
        <p:spPr>
          <a:xfrm>
            <a:off x="1727439" y="1527678"/>
            <a:ext cx="7856508" cy="369332"/>
          </a:xfrm>
          <a:prstGeom prst="rect">
            <a:avLst/>
          </a:prstGeom>
          <a:noFill/>
        </p:spPr>
        <p:txBody>
          <a:bodyPr wrap="square">
            <a:spAutoFit/>
          </a:bodyPr>
          <a:lstStyle/>
          <a:p>
            <a:pPr algn="ctr"/>
            <a:r>
              <a:rPr lang="pt-BR" dirty="0">
                <a:solidFill>
                  <a:schemeClr val="bg1"/>
                </a:solidFill>
              </a:rPr>
              <a:t>Definição de laços e sua importância na programação</a:t>
            </a:r>
          </a:p>
        </p:txBody>
      </p:sp>
      <p:sp>
        <p:nvSpPr>
          <p:cNvPr id="11" name="CaixaDeTexto 10">
            <a:extLst>
              <a:ext uri="{FF2B5EF4-FFF2-40B4-BE49-F238E27FC236}">
                <a16:creationId xmlns:a16="http://schemas.microsoft.com/office/drawing/2014/main" id="{B4660923-92A3-1751-BB9D-843AB58C70B6}"/>
              </a:ext>
            </a:extLst>
          </p:cNvPr>
          <p:cNvSpPr txBox="1"/>
          <p:nvPr/>
        </p:nvSpPr>
        <p:spPr>
          <a:xfrm>
            <a:off x="713118" y="2410779"/>
            <a:ext cx="10311441" cy="3970318"/>
          </a:xfrm>
          <a:prstGeom prst="rect">
            <a:avLst/>
          </a:prstGeom>
          <a:noFill/>
        </p:spPr>
        <p:txBody>
          <a:bodyPr wrap="square">
            <a:spAutoFit/>
          </a:bodyPr>
          <a:lstStyle/>
          <a:p>
            <a:pPr algn="just"/>
            <a:r>
              <a:rPr lang="pt-BR" dirty="0">
                <a:solidFill>
                  <a:srgbClr val="FFFF00"/>
                </a:solidFill>
              </a:rPr>
              <a:t>Laços</a:t>
            </a:r>
            <a:r>
              <a:rPr lang="pt-BR" dirty="0">
                <a:solidFill>
                  <a:schemeClr val="bg1"/>
                </a:solidFill>
              </a:rPr>
              <a:t>, ou </a:t>
            </a:r>
            <a:r>
              <a:rPr lang="pt-BR" dirty="0">
                <a:solidFill>
                  <a:srgbClr val="FFFF00"/>
                </a:solidFill>
              </a:rPr>
              <a:t>loops</a:t>
            </a:r>
            <a:r>
              <a:rPr lang="pt-BR" dirty="0">
                <a:solidFill>
                  <a:schemeClr val="bg1"/>
                </a:solidFill>
              </a:rPr>
              <a:t>, são estruturas de controle fundamentais em programação PL/SQL, assim como em muitas outras linguagens de programação. Eles permitem que você execute um bloco de código repetidamente enquanto uma condição específica for verdadeira ou por um número fixo de vezes</a:t>
            </a:r>
          </a:p>
          <a:p>
            <a:pPr algn="just"/>
            <a:endParaRPr lang="pt-BR" dirty="0">
              <a:solidFill>
                <a:schemeClr val="bg1"/>
              </a:solidFill>
            </a:endParaRPr>
          </a:p>
          <a:p>
            <a:pPr marL="285750" indent="-285750" algn="just">
              <a:buClr>
                <a:srgbClr val="FFFF00"/>
              </a:buClr>
              <a:buFont typeface="Wingdings" panose="05000000000000000000" pitchFamily="2" charset="2"/>
              <a:buChar char="q"/>
            </a:pPr>
            <a:r>
              <a:rPr lang="pt-BR" dirty="0">
                <a:solidFill>
                  <a:schemeClr val="bg1"/>
                </a:solidFill>
              </a:rPr>
              <a:t>Tipos de Laços</a:t>
            </a:r>
          </a:p>
          <a:p>
            <a:pPr algn="just">
              <a:buClr>
                <a:srgbClr val="FFFF00"/>
              </a:buClr>
            </a:pPr>
            <a:endParaRPr lang="pt-BR" dirty="0">
              <a:solidFill>
                <a:schemeClr val="bg1"/>
              </a:solidFill>
            </a:endParaRPr>
          </a:p>
          <a:p>
            <a:pPr algn="just">
              <a:buClr>
                <a:srgbClr val="FFFF00"/>
              </a:buClr>
            </a:pPr>
            <a:r>
              <a:rPr lang="pt-BR" dirty="0">
                <a:solidFill>
                  <a:srgbClr val="E81459"/>
                </a:solidFill>
              </a:rPr>
              <a:t>FOR</a:t>
            </a:r>
            <a:r>
              <a:rPr lang="pt-BR" dirty="0">
                <a:solidFill>
                  <a:schemeClr val="bg1"/>
                </a:solidFill>
              </a:rPr>
              <a:t>: Laço para executar um bloco de código um número específico de vezes.</a:t>
            </a:r>
          </a:p>
          <a:p>
            <a:pPr algn="just">
              <a:buClr>
                <a:srgbClr val="FFFF00"/>
              </a:buClr>
            </a:pPr>
            <a:endParaRPr lang="pt-BR" dirty="0">
              <a:solidFill>
                <a:schemeClr val="bg1"/>
              </a:solidFill>
            </a:endParaRPr>
          </a:p>
          <a:p>
            <a:pPr algn="just">
              <a:buClr>
                <a:srgbClr val="FFFF00"/>
              </a:buClr>
            </a:pPr>
            <a:r>
              <a:rPr lang="pt-BR" dirty="0">
                <a:solidFill>
                  <a:srgbClr val="E81459"/>
                </a:solidFill>
              </a:rPr>
              <a:t>WHILE</a:t>
            </a:r>
            <a:r>
              <a:rPr lang="pt-BR" dirty="0">
                <a:solidFill>
                  <a:schemeClr val="bg1"/>
                </a:solidFill>
              </a:rPr>
              <a:t>: Laço para executar um bloco de código enquanto uma condição for verdadeira</a:t>
            </a:r>
          </a:p>
          <a:p>
            <a:pPr algn="just">
              <a:buClr>
                <a:srgbClr val="FFFF00"/>
              </a:buClr>
            </a:pPr>
            <a:endParaRPr lang="pt-BR" dirty="0">
              <a:solidFill>
                <a:schemeClr val="bg1"/>
              </a:solidFill>
            </a:endParaRPr>
          </a:p>
          <a:p>
            <a:pPr algn="just">
              <a:buClr>
                <a:srgbClr val="FFFF00"/>
              </a:buClr>
            </a:pPr>
            <a:r>
              <a:rPr lang="pt-BR" dirty="0">
                <a:solidFill>
                  <a:srgbClr val="E81459"/>
                </a:solidFill>
              </a:rPr>
              <a:t>LOOP</a:t>
            </a:r>
            <a:r>
              <a:rPr lang="pt-BR" dirty="0">
                <a:solidFill>
                  <a:schemeClr val="bg1"/>
                </a:solidFill>
              </a:rPr>
              <a:t>: Laço para executar um bloco de código indefinidamente.</a:t>
            </a:r>
          </a:p>
          <a:p>
            <a:pPr algn="just">
              <a:buClr>
                <a:srgbClr val="FFFF00"/>
              </a:buClr>
            </a:pPr>
            <a:endParaRPr lang="pt-BR" dirty="0">
              <a:solidFill>
                <a:schemeClr val="bg1"/>
              </a:solidFill>
            </a:endParaRPr>
          </a:p>
          <a:p>
            <a:pPr algn="just">
              <a:buClr>
                <a:srgbClr val="FFFF00"/>
              </a:buClr>
            </a:pPr>
            <a:endParaRPr lang="pt-BR" dirty="0">
              <a:solidFill>
                <a:schemeClr val="bg1"/>
              </a:solidFill>
            </a:endParaRPr>
          </a:p>
          <a:p>
            <a:pPr algn="just">
              <a:buClr>
                <a:srgbClr val="FFFF00"/>
              </a:buClr>
            </a:pPr>
            <a:endParaRPr lang="pt-BR" dirty="0">
              <a:solidFill>
                <a:schemeClr val="bg1"/>
              </a:solidFill>
            </a:endParaRPr>
          </a:p>
        </p:txBody>
      </p:sp>
    </p:spTree>
    <p:extLst>
      <p:ext uri="{BB962C8B-B14F-4D97-AF65-F5344CB8AC3E}">
        <p14:creationId xmlns:p14="http://schemas.microsoft.com/office/powerpoint/2010/main" val="2989192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9" name="CaixaDeTexto 8">
            <a:extLst>
              <a:ext uri="{FF2B5EF4-FFF2-40B4-BE49-F238E27FC236}">
                <a16:creationId xmlns:a16="http://schemas.microsoft.com/office/drawing/2014/main" id="{B9A31C19-248B-C9DF-CB3F-42A2FD664689}"/>
              </a:ext>
            </a:extLst>
          </p:cNvPr>
          <p:cNvSpPr txBox="1"/>
          <p:nvPr/>
        </p:nvSpPr>
        <p:spPr>
          <a:xfrm>
            <a:off x="1727439" y="1527678"/>
            <a:ext cx="7856508" cy="369332"/>
          </a:xfrm>
          <a:prstGeom prst="rect">
            <a:avLst/>
          </a:prstGeom>
          <a:noFill/>
        </p:spPr>
        <p:txBody>
          <a:bodyPr wrap="square">
            <a:spAutoFit/>
          </a:bodyPr>
          <a:lstStyle/>
          <a:p>
            <a:pPr algn="ctr"/>
            <a:r>
              <a:rPr lang="pt-BR" dirty="0">
                <a:solidFill>
                  <a:schemeClr val="bg1"/>
                </a:solidFill>
              </a:rPr>
              <a:t>Definição de laços e sua importância na programação</a:t>
            </a:r>
          </a:p>
        </p:txBody>
      </p:sp>
      <p:sp>
        <p:nvSpPr>
          <p:cNvPr id="11" name="CaixaDeTexto 10">
            <a:extLst>
              <a:ext uri="{FF2B5EF4-FFF2-40B4-BE49-F238E27FC236}">
                <a16:creationId xmlns:a16="http://schemas.microsoft.com/office/drawing/2014/main" id="{B4660923-92A3-1751-BB9D-843AB58C70B6}"/>
              </a:ext>
            </a:extLst>
          </p:cNvPr>
          <p:cNvSpPr txBox="1"/>
          <p:nvPr/>
        </p:nvSpPr>
        <p:spPr>
          <a:xfrm>
            <a:off x="713118" y="2384900"/>
            <a:ext cx="10311441" cy="3693319"/>
          </a:xfrm>
          <a:prstGeom prst="rect">
            <a:avLst/>
          </a:prstGeom>
          <a:noFill/>
        </p:spPr>
        <p:txBody>
          <a:bodyPr wrap="square">
            <a:spAutoFit/>
          </a:bodyPr>
          <a:lstStyle/>
          <a:p>
            <a:pPr algn="just">
              <a:buClr>
                <a:srgbClr val="FFFF00"/>
              </a:buClr>
            </a:pPr>
            <a:r>
              <a:rPr lang="pt-BR" dirty="0">
                <a:solidFill>
                  <a:srgbClr val="E81459"/>
                </a:solidFill>
              </a:rPr>
              <a:t>Eficiência: </a:t>
            </a:r>
            <a:r>
              <a:rPr lang="pt-BR" dirty="0">
                <a:solidFill>
                  <a:schemeClr val="bg1"/>
                </a:solidFill>
              </a:rPr>
              <a:t>Com os loops, você pode executar a mesma instrução ou bloco de código várias vezes sem repetir o código, o que torna seu programa mais eficiente e economiza tempo de desenvolvimento.</a:t>
            </a:r>
          </a:p>
          <a:p>
            <a:pPr algn="just">
              <a:buClr>
                <a:srgbClr val="FFFF00"/>
              </a:buClr>
            </a:pPr>
            <a:endParaRPr lang="pt-BR" dirty="0">
              <a:solidFill>
                <a:schemeClr val="bg1"/>
              </a:solidFill>
            </a:endParaRPr>
          </a:p>
          <a:p>
            <a:pPr algn="just">
              <a:buClr>
                <a:srgbClr val="FFFF00"/>
              </a:buClr>
            </a:pPr>
            <a:r>
              <a:rPr lang="pt-BR" dirty="0">
                <a:solidFill>
                  <a:srgbClr val="E81459"/>
                </a:solidFill>
              </a:rPr>
              <a:t>Manipulação de Conjuntos de Dados: </a:t>
            </a:r>
            <a:r>
              <a:rPr lang="pt-BR" dirty="0">
                <a:solidFill>
                  <a:schemeClr val="bg1"/>
                </a:solidFill>
              </a:rPr>
              <a:t>Em PL/SQL, é comum lidar com grandes conjuntos de dados, como tabelas de banco de dados. Os loops permitem percorrer esses conjuntos de dados linha por linha, aplicando operações ou processamentos específicos a cada linha.</a:t>
            </a:r>
          </a:p>
          <a:p>
            <a:pPr algn="just">
              <a:buClr>
                <a:srgbClr val="FFFF00"/>
              </a:buClr>
            </a:pPr>
            <a:endParaRPr lang="pt-BR" dirty="0">
              <a:solidFill>
                <a:schemeClr val="bg1"/>
              </a:solidFill>
            </a:endParaRPr>
          </a:p>
          <a:p>
            <a:pPr algn="just">
              <a:buClr>
                <a:srgbClr val="FFFF00"/>
              </a:buClr>
            </a:pPr>
            <a:r>
              <a:rPr lang="pt-BR" dirty="0">
                <a:solidFill>
                  <a:srgbClr val="E81459"/>
                </a:solidFill>
              </a:rPr>
              <a:t>Automatização de Tarefas: </a:t>
            </a:r>
            <a:r>
              <a:rPr lang="pt-BR" dirty="0">
                <a:solidFill>
                  <a:schemeClr val="bg1"/>
                </a:solidFill>
              </a:rPr>
              <a:t>Os loops são úteis para automatizar tarefas repetitivas, como processamento de dados, cálculos complexos, geração de relatórios, entre outros.</a:t>
            </a:r>
          </a:p>
          <a:p>
            <a:pPr algn="just">
              <a:buClr>
                <a:srgbClr val="FFFF00"/>
              </a:buClr>
            </a:pPr>
            <a:endParaRPr lang="pt-BR" dirty="0">
              <a:solidFill>
                <a:schemeClr val="bg1"/>
              </a:solidFill>
            </a:endParaRPr>
          </a:p>
          <a:p>
            <a:pPr algn="just">
              <a:buClr>
                <a:srgbClr val="FFFF00"/>
              </a:buClr>
            </a:pPr>
            <a:r>
              <a:rPr lang="pt-BR" dirty="0">
                <a:solidFill>
                  <a:srgbClr val="E81459"/>
                </a:solidFill>
              </a:rPr>
              <a:t>Flexibilidade: </a:t>
            </a:r>
            <a:r>
              <a:rPr lang="pt-BR" dirty="0">
                <a:solidFill>
                  <a:schemeClr val="bg1"/>
                </a:solidFill>
              </a:rPr>
              <a:t>Os loops oferecem flexibilidade para lidar com diferentes cenários de programação, como iteração sobre uma lista de valores, processamento de registros em uma tabela ou execução de uma sequência de instruções até que uma condição específica seja atendida.</a:t>
            </a:r>
          </a:p>
        </p:txBody>
      </p:sp>
    </p:spTree>
    <p:extLst>
      <p:ext uri="{BB962C8B-B14F-4D97-AF65-F5344CB8AC3E}">
        <p14:creationId xmlns:p14="http://schemas.microsoft.com/office/powerpoint/2010/main" val="1467502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9" name="CaixaDeTexto 8">
            <a:extLst>
              <a:ext uri="{FF2B5EF4-FFF2-40B4-BE49-F238E27FC236}">
                <a16:creationId xmlns:a16="http://schemas.microsoft.com/office/drawing/2014/main" id="{B9A31C19-248B-C9DF-CB3F-42A2FD664689}"/>
              </a:ext>
            </a:extLst>
          </p:cNvPr>
          <p:cNvSpPr txBox="1"/>
          <p:nvPr/>
        </p:nvSpPr>
        <p:spPr>
          <a:xfrm>
            <a:off x="1727439" y="1527678"/>
            <a:ext cx="7856508" cy="369332"/>
          </a:xfrm>
          <a:prstGeom prst="rect">
            <a:avLst/>
          </a:prstGeom>
          <a:noFill/>
        </p:spPr>
        <p:txBody>
          <a:bodyPr wrap="square">
            <a:spAutoFit/>
          </a:bodyPr>
          <a:lstStyle/>
          <a:p>
            <a:pPr algn="ctr"/>
            <a:r>
              <a:rPr lang="pt-BR" dirty="0">
                <a:solidFill>
                  <a:schemeClr val="bg1"/>
                </a:solidFill>
              </a:rPr>
              <a:t>Definição de laços e sua importância na programação</a:t>
            </a:r>
          </a:p>
        </p:txBody>
      </p:sp>
      <p:sp>
        <p:nvSpPr>
          <p:cNvPr id="11" name="CaixaDeTexto 10">
            <a:extLst>
              <a:ext uri="{FF2B5EF4-FFF2-40B4-BE49-F238E27FC236}">
                <a16:creationId xmlns:a16="http://schemas.microsoft.com/office/drawing/2014/main" id="{B4660923-92A3-1751-BB9D-843AB58C70B6}"/>
              </a:ext>
            </a:extLst>
          </p:cNvPr>
          <p:cNvSpPr txBox="1"/>
          <p:nvPr/>
        </p:nvSpPr>
        <p:spPr>
          <a:xfrm>
            <a:off x="713118" y="2384900"/>
            <a:ext cx="10311441" cy="3693319"/>
          </a:xfrm>
          <a:prstGeom prst="rect">
            <a:avLst/>
          </a:prstGeom>
          <a:noFill/>
        </p:spPr>
        <p:txBody>
          <a:bodyPr wrap="square">
            <a:spAutoFit/>
          </a:bodyPr>
          <a:lstStyle/>
          <a:p>
            <a:pPr algn="just">
              <a:buClr>
                <a:srgbClr val="FFFF00"/>
              </a:buClr>
            </a:pPr>
            <a:r>
              <a:rPr lang="pt-BR" dirty="0">
                <a:solidFill>
                  <a:srgbClr val="E81459"/>
                </a:solidFill>
              </a:rPr>
              <a:t>Eficiência: </a:t>
            </a:r>
            <a:r>
              <a:rPr lang="pt-BR" dirty="0">
                <a:solidFill>
                  <a:schemeClr val="bg1"/>
                </a:solidFill>
              </a:rPr>
              <a:t>Com os </a:t>
            </a:r>
            <a:r>
              <a:rPr lang="pt-BR" dirty="0">
                <a:solidFill>
                  <a:srgbClr val="FFFF00"/>
                </a:solidFill>
              </a:rPr>
              <a:t>loops</a:t>
            </a:r>
            <a:r>
              <a:rPr lang="pt-BR" dirty="0">
                <a:solidFill>
                  <a:schemeClr val="bg1"/>
                </a:solidFill>
              </a:rPr>
              <a:t>, você pode executar a mesma instrução ou bloco de código várias vezes sem repetir o código, o que torna seu programa mais eficiente e economiza tempo de desenvolvimento.</a:t>
            </a:r>
          </a:p>
          <a:p>
            <a:pPr algn="just">
              <a:buClr>
                <a:srgbClr val="FFFF00"/>
              </a:buClr>
            </a:pPr>
            <a:endParaRPr lang="pt-BR" dirty="0">
              <a:solidFill>
                <a:schemeClr val="bg1"/>
              </a:solidFill>
            </a:endParaRPr>
          </a:p>
          <a:p>
            <a:pPr algn="just">
              <a:buClr>
                <a:srgbClr val="FFFF00"/>
              </a:buClr>
            </a:pPr>
            <a:r>
              <a:rPr lang="pt-BR" dirty="0">
                <a:solidFill>
                  <a:srgbClr val="E81459"/>
                </a:solidFill>
              </a:rPr>
              <a:t>Manipulação de Conjuntos de Dados: </a:t>
            </a:r>
            <a:r>
              <a:rPr lang="pt-BR" dirty="0">
                <a:solidFill>
                  <a:schemeClr val="bg1"/>
                </a:solidFill>
              </a:rPr>
              <a:t>Em PL/SQL, é comum lidar com grandes conjuntos de dados, como tabelas de banco de dados. Os </a:t>
            </a:r>
            <a:r>
              <a:rPr lang="pt-BR" dirty="0">
                <a:solidFill>
                  <a:srgbClr val="FFFF00"/>
                </a:solidFill>
              </a:rPr>
              <a:t>loops</a:t>
            </a:r>
            <a:r>
              <a:rPr lang="pt-BR" dirty="0">
                <a:solidFill>
                  <a:schemeClr val="bg1"/>
                </a:solidFill>
              </a:rPr>
              <a:t> permitem percorrer esses conjuntos de dados linha por linha, aplicando operações ou processamentos específicos a cada linha.</a:t>
            </a:r>
          </a:p>
          <a:p>
            <a:pPr algn="just">
              <a:buClr>
                <a:srgbClr val="FFFF00"/>
              </a:buClr>
            </a:pPr>
            <a:endParaRPr lang="pt-BR" dirty="0">
              <a:solidFill>
                <a:schemeClr val="bg1"/>
              </a:solidFill>
            </a:endParaRPr>
          </a:p>
          <a:p>
            <a:pPr algn="just">
              <a:buClr>
                <a:srgbClr val="FFFF00"/>
              </a:buClr>
            </a:pPr>
            <a:r>
              <a:rPr lang="pt-BR" dirty="0">
                <a:solidFill>
                  <a:srgbClr val="E81459"/>
                </a:solidFill>
              </a:rPr>
              <a:t>Automatização de Tarefas: </a:t>
            </a:r>
            <a:r>
              <a:rPr lang="pt-BR" dirty="0">
                <a:solidFill>
                  <a:schemeClr val="bg1"/>
                </a:solidFill>
              </a:rPr>
              <a:t>Os </a:t>
            </a:r>
            <a:r>
              <a:rPr lang="pt-BR" dirty="0">
                <a:solidFill>
                  <a:srgbClr val="FFFF00"/>
                </a:solidFill>
              </a:rPr>
              <a:t>loops</a:t>
            </a:r>
            <a:r>
              <a:rPr lang="pt-BR" dirty="0">
                <a:solidFill>
                  <a:schemeClr val="bg1"/>
                </a:solidFill>
              </a:rPr>
              <a:t> são úteis para automatizar tarefas repetitivas, como processamento de dados, cálculos complexos, geração de relatórios, entre outros.</a:t>
            </a:r>
          </a:p>
          <a:p>
            <a:pPr algn="just">
              <a:buClr>
                <a:srgbClr val="FFFF00"/>
              </a:buClr>
            </a:pPr>
            <a:endParaRPr lang="pt-BR" dirty="0">
              <a:solidFill>
                <a:schemeClr val="bg1"/>
              </a:solidFill>
            </a:endParaRPr>
          </a:p>
          <a:p>
            <a:pPr algn="just">
              <a:buClr>
                <a:srgbClr val="FFFF00"/>
              </a:buClr>
            </a:pPr>
            <a:r>
              <a:rPr lang="pt-BR" dirty="0">
                <a:solidFill>
                  <a:srgbClr val="E81459"/>
                </a:solidFill>
              </a:rPr>
              <a:t>Flexibilidade: </a:t>
            </a:r>
            <a:r>
              <a:rPr lang="pt-BR" dirty="0">
                <a:solidFill>
                  <a:schemeClr val="bg1"/>
                </a:solidFill>
              </a:rPr>
              <a:t>Os </a:t>
            </a:r>
            <a:r>
              <a:rPr lang="pt-BR" dirty="0">
                <a:solidFill>
                  <a:srgbClr val="FFFF00"/>
                </a:solidFill>
              </a:rPr>
              <a:t>loops</a:t>
            </a:r>
            <a:r>
              <a:rPr lang="pt-BR" dirty="0">
                <a:solidFill>
                  <a:schemeClr val="bg1"/>
                </a:solidFill>
              </a:rPr>
              <a:t> oferecem flexibilidade para lidar com diferentes cenários de programação, como iteração sobre uma lista de valores, processamento de registros em uma tabela ou execução de uma sequência de instruções até que uma condição específica seja atendida.</a:t>
            </a:r>
          </a:p>
        </p:txBody>
      </p:sp>
    </p:spTree>
    <p:extLst>
      <p:ext uri="{BB962C8B-B14F-4D97-AF65-F5344CB8AC3E}">
        <p14:creationId xmlns:p14="http://schemas.microsoft.com/office/powerpoint/2010/main" val="342662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602128" cy="769441"/>
          </a:xfrm>
          <a:prstGeom prst="rect">
            <a:avLst/>
          </a:prstGeom>
          <a:noFill/>
        </p:spPr>
        <p:txBody>
          <a:bodyPr wrap="none" rtlCol="0">
            <a:spAutoFit/>
          </a:bodyPr>
          <a:lstStyle/>
          <a:p>
            <a:r>
              <a:rPr lang="pt-BR" sz="4400" dirty="0">
                <a:solidFill>
                  <a:schemeClr val="bg1"/>
                </a:solidFill>
              </a:rPr>
              <a:t>Estrutura de repetição: loop</a:t>
            </a:r>
          </a:p>
        </p:txBody>
      </p:sp>
      <p:sp>
        <p:nvSpPr>
          <p:cNvPr id="3" name="Retângulo 2"/>
          <p:cNvSpPr/>
          <p:nvPr/>
        </p:nvSpPr>
        <p:spPr>
          <a:xfrm>
            <a:off x="2048298" y="2884397"/>
            <a:ext cx="6634975" cy="1815882"/>
          </a:xfrm>
          <a:prstGeom prst="rect">
            <a:avLst/>
          </a:prstGeom>
        </p:spPr>
        <p:txBody>
          <a:bodyPr wrap="square">
            <a:spAutoFit/>
          </a:bodyPr>
          <a:lstStyle/>
          <a:p>
            <a:r>
              <a:rPr lang="en-US" sz="2800" dirty="0">
                <a:solidFill>
                  <a:srgbClr val="FFFF00"/>
                </a:solidFill>
              </a:rPr>
              <a:t>Loop</a:t>
            </a:r>
          </a:p>
          <a:p>
            <a:r>
              <a:rPr lang="en-US" sz="2800" dirty="0">
                <a:solidFill>
                  <a:schemeClr val="bg1"/>
                </a:solidFill>
              </a:rPr>
              <a:t>	&lt; instrução(ões) &gt;</a:t>
            </a:r>
          </a:p>
          <a:p>
            <a:r>
              <a:rPr lang="en-US" sz="2800" dirty="0">
                <a:solidFill>
                  <a:srgbClr val="FFFF00"/>
                </a:solidFill>
              </a:rPr>
              <a:t>	Exit when </a:t>
            </a:r>
            <a:r>
              <a:rPr lang="en-US" sz="2800" dirty="0">
                <a:solidFill>
                  <a:schemeClr val="bg1"/>
                </a:solidFill>
              </a:rPr>
              <a:t>&lt; condição &gt;</a:t>
            </a:r>
            <a:endParaRPr lang="en-US" sz="2800" dirty="0">
              <a:solidFill>
                <a:srgbClr val="FFFF00"/>
              </a:solidFill>
            </a:endParaRPr>
          </a:p>
          <a:p>
            <a:r>
              <a:rPr lang="en-US" sz="2800" dirty="0">
                <a:solidFill>
                  <a:srgbClr val="FFFF00"/>
                </a:solidFill>
              </a:rPr>
              <a:t>End loop;</a:t>
            </a:r>
          </a:p>
        </p:txBody>
      </p:sp>
    </p:spTree>
    <p:extLst>
      <p:ext uri="{BB962C8B-B14F-4D97-AF65-F5344CB8AC3E}">
        <p14:creationId xmlns:p14="http://schemas.microsoft.com/office/powerpoint/2010/main" val="3623613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602128" cy="769441"/>
          </a:xfrm>
          <a:prstGeom prst="rect">
            <a:avLst/>
          </a:prstGeom>
          <a:noFill/>
        </p:spPr>
        <p:txBody>
          <a:bodyPr wrap="none" rtlCol="0">
            <a:spAutoFit/>
          </a:bodyPr>
          <a:lstStyle/>
          <a:p>
            <a:r>
              <a:rPr lang="pt-BR" sz="4400" dirty="0">
                <a:solidFill>
                  <a:schemeClr val="bg1"/>
                </a:solidFill>
              </a:rPr>
              <a:t>Estrutura de repetição: loop</a:t>
            </a:r>
          </a:p>
        </p:txBody>
      </p:sp>
      <p:sp>
        <p:nvSpPr>
          <p:cNvPr id="3" name="Retângulo 2"/>
          <p:cNvSpPr/>
          <p:nvPr/>
        </p:nvSpPr>
        <p:spPr>
          <a:xfrm>
            <a:off x="1378375" y="2426016"/>
            <a:ext cx="8701478" cy="3970318"/>
          </a:xfrm>
          <a:prstGeom prst="rect">
            <a:avLst/>
          </a:prstGeom>
        </p:spPr>
        <p:txBody>
          <a:bodyPr wrap="square">
            <a:spAutoFit/>
          </a:bodyPr>
          <a:lstStyle/>
          <a:p>
            <a:r>
              <a:rPr lang="pt-BR" sz="2800" dirty="0">
                <a:solidFill>
                  <a:schemeClr val="bg1"/>
                </a:solidFill>
              </a:rPr>
              <a:t>DECLARE </a:t>
            </a:r>
          </a:p>
          <a:p>
            <a:r>
              <a:rPr lang="pt-BR" sz="2800" dirty="0">
                <a:solidFill>
                  <a:schemeClr val="bg1"/>
                </a:solidFill>
              </a:rPr>
              <a:t>	V_CONTADOR NUMBER(2):= 1; </a:t>
            </a:r>
          </a:p>
          <a:p>
            <a:r>
              <a:rPr lang="pt-BR" sz="2800" dirty="0">
                <a:solidFill>
                  <a:schemeClr val="bg1"/>
                </a:solidFill>
              </a:rPr>
              <a:t>BEGIN </a:t>
            </a:r>
          </a:p>
          <a:p>
            <a:r>
              <a:rPr lang="pt-BR" sz="2800" dirty="0">
                <a:solidFill>
                  <a:srgbClr val="FFFF00"/>
                </a:solidFill>
              </a:rPr>
              <a:t>LOOP 	</a:t>
            </a:r>
          </a:p>
          <a:p>
            <a:r>
              <a:rPr lang="pt-BR" sz="2800" dirty="0">
                <a:solidFill>
                  <a:schemeClr val="bg1"/>
                </a:solidFill>
              </a:rPr>
              <a:t>	DBMS_OUTPUT.PUT_LINE(V_CONTADOR); </a:t>
            </a:r>
          </a:p>
          <a:p>
            <a:r>
              <a:rPr lang="pt-BR" sz="2800" dirty="0">
                <a:solidFill>
                  <a:srgbClr val="FFC000"/>
                </a:solidFill>
              </a:rPr>
              <a:t>	V_CONTADOR := V_CONTADOR + 1; </a:t>
            </a:r>
          </a:p>
          <a:p>
            <a:r>
              <a:rPr lang="pt-BR" sz="2800" dirty="0">
                <a:solidFill>
                  <a:schemeClr val="bg1"/>
                </a:solidFill>
              </a:rPr>
              <a:t>	</a:t>
            </a:r>
            <a:r>
              <a:rPr lang="pt-BR" sz="2800" dirty="0">
                <a:solidFill>
                  <a:srgbClr val="FFFF00"/>
                </a:solidFill>
              </a:rPr>
              <a:t>EXIT WHEN</a:t>
            </a:r>
            <a:r>
              <a:rPr lang="pt-BR" sz="2800" dirty="0">
                <a:solidFill>
                  <a:schemeClr val="bg1"/>
                </a:solidFill>
              </a:rPr>
              <a:t> V_CONTADOR &gt; 20; </a:t>
            </a:r>
          </a:p>
          <a:p>
            <a:r>
              <a:rPr lang="pt-BR" sz="2800" dirty="0">
                <a:solidFill>
                  <a:srgbClr val="FFFF00"/>
                </a:solidFill>
              </a:rPr>
              <a:t>END LOOP; </a:t>
            </a:r>
          </a:p>
          <a:p>
            <a:r>
              <a:rPr lang="pt-BR" sz="2800" dirty="0">
                <a:solidFill>
                  <a:schemeClr val="bg1"/>
                </a:solidFill>
              </a:rPr>
              <a:t>END;</a:t>
            </a:r>
            <a:endParaRPr lang="en-US" sz="2800" dirty="0">
              <a:solidFill>
                <a:schemeClr val="bg1"/>
              </a:solidFill>
            </a:endParaRPr>
          </a:p>
        </p:txBody>
      </p:sp>
    </p:spTree>
    <p:extLst>
      <p:ext uri="{BB962C8B-B14F-4D97-AF65-F5344CB8AC3E}">
        <p14:creationId xmlns:p14="http://schemas.microsoft.com/office/powerpoint/2010/main" val="29832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820137" cy="769441"/>
          </a:xfrm>
          <a:prstGeom prst="rect">
            <a:avLst/>
          </a:prstGeom>
          <a:noFill/>
        </p:spPr>
        <p:txBody>
          <a:bodyPr wrap="none" rtlCol="0">
            <a:spAutoFit/>
          </a:bodyPr>
          <a:lstStyle/>
          <a:p>
            <a:r>
              <a:rPr lang="pt-BR" sz="4400" dirty="0">
                <a:solidFill>
                  <a:schemeClr val="bg1"/>
                </a:solidFill>
              </a:rPr>
              <a:t>Estrutura de repetição: while</a:t>
            </a:r>
          </a:p>
        </p:txBody>
      </p:sp>
      <p:sp>
        <p:nvSpPr>
          <p:cNvPr id="3" name="Retângulo 2"/>
          <p:cNvSpPr/>
          <p:nvPr/>
        </p:nvSpPr>
        <p:spPr>
          <a:xfrm>
            <a:off x="3512422" y="3100526"/>
            <a:ext cx="4989610" cy="1384995"/>
          </a:xfrm>
          <a:prstGeom prst="rect">
            <a:avLst/>
          </a:prstGeom>
        </p:spPr>
        <p:txBody>
          <a:bodyPr wrap="square">
            <a:spAutoFit/>
          </a:bodyPr>
          <a:lstStyle/>
          <a:p>
            <a:r>
              <a:rPr lang="pt-BR" sz="2800" dirty="0">
                <a:solidFill>
                  <a:srgbClr val="FFFF00"/>
                </a:solidFill>
              </a:rPr>
              <a:t>WHILE </a:t>
            </a:r>
            <a:r>
              <a:rPr lang="pt-BR" sz="2800" dirty="0">
                <a:solidFill>
                  <a:schemeClr val="bg1"/>
                </a:solidFill>
              </a:rPr>
              <a:t>&lt; condição&gt; </a:t>
            </a:r>
            <a:r>
              <a:rPr lang="pt-BR" sz="2800" dirty="0">
                <a:solidFill>
                  <a:srgbClr val="FFFF00"/>
                </a:solidFill>
              </a:rPr>
              <a:t>LOOP </a:t>
            </a:r>
          </a:p>
          <a:p>
            <a:r>
              <a:rPr lang="pt-BR" sz="2800" dirty="0">
                <a:solidFill>
                  <a:srgbClr val="FFFF00"/>
                </a:solidFill>
              </a:rPr>
              <a:t>	</a:t>
            </a:r>
            <a:r>
              <a:rPr lang="pt-BR" sz="2800" dirty="0">
                <a:solidFill>
                  <a:schemeClr val="bg1"/>
                </a:solidFill>
              </a:rPr>
              <a:t>&lt; instrução(ões) &gt;;</a:t>
            </a:r>
            <a:endParaRPr lang="pt-BR" sz="2800" dirty="0">
              <a:solidFill>
                <a:srgbClr val="FFFF00"/>
              </a:solidFill>
            </a:endParaRPr>
          </a:p>
          <a:p>
            <a:r>
              <a:rPr lang="pt-BR" sz="2800" dirty="0">
                <a:solidFill>
                  <a:srgbClr val="FFFF00"/>
                </a:solidFill>
              </a:rPr>
              <a:t>END LOOP;</a:t>
            </a:r>
            <a:endParaRPr lang="en-US" sz="2800" dirty="0">
              <a:solidFill>
                <a:srgbClr val="FFFF00"/>
              </a:solidFill>
            </a:endParaRPr>
          </a:p>
        </p:txBody>
      </p:sp>
    </p:spTree>
    <p:extLst>
      <p:ext uri="{BB962C8B-B14F-4D97-AF65-F5344CB8AC3E}">
        <p14:creationId xmlns:p14="http://schemas.microsoft.com/office/powerpoint/2010/main" val="370531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820137" cy="769441"/>
          </a:xfrm>
          <a:prstGeom prst="rect">
            <a:avLst/>
          </a:prstGeom>
          <a:noFill/>
        </p:spPr>
        <p:txBody>
          <a:bodyPr wrap="none" rtlCol="0">
            <a:spAutoFit/>
          </a:bodyPr>
          <a:lstStyle/>
          <a:p>
            <a:r>
              <a:rPr lang="pt-BR" sz="4400" dirty="0">
                <a:solidFill>
                  <a:schemeClr val="bg1"/>
                </a:solidFill>
              </a:rPr>
              <a:t>Estrutura de repetição: while</a:t>
            </a:r>
          </a:p>
        </p:txBody>
      </p:sp>
      <p:sp>
        <p:nvSpPr>
          <p:cNvPr id="3" name="Retângulo 2"/>
          <p:cNvSpPr/>
          <p:nvPr/>
        </p:nvSpPr>
        <p:spPr>
          <a:xfrm>
            <a:off x="2048298" y="2349297"/>
            <a:ext cx="7642112" cy="3539430"/>
          </a:xfrm>
          <a:prstGeom prst="rect">
            <a:avLst/>
          </a:prstGeom>
        </p:spPr>
        <p:txBody>
          <a:bodyPr wrap="square">
            <a:spAutoFit/>
          </a:bodyPr>
          <a:lstStyle/>
          <a:p>
            <a:r>
              <a:rPr lang="en-US" sz="2800" dirty="0">
                <a:solidFill>
                  <a:schemeClr val="bg1"/>
                </a:solidFill>
              </a:rPr>
              <a:t>DECLARE </a:t>
            </a:r>
          </a:p>
          <a:p>
            <a:r>
              <a:rPr lang="en-US" sz="2800" dirty="0">
                <a:solidFill>
                  <a:schemeClr val="bg1"/>
                </a:solidFill>
              </a:rPr>
              <a:t>V_CONTADOR NUMBER(2):= 1; </a:t>
            </a:r>
          </a:p>
          <a:p>
            <a:r>
              <a:rPr lang="en-US" sz="2800" dirty="0">
                <a:solidFill>
                  <a:schemeClr val="bg1"/>
                </a:solidFill>
              </a:rPr>
              <a:t>BEGIN </a:t>
            </a:r>
          </a:p>
          <a:p>
            <a:r>
              <a:rPr lang="en-US" sz="2800" dirty="0">
                <a:solidFill>
                  <a:srgbClr val="FFFF00"/>
                </a:solidFill>
              </a:rPr>
              <a:t>WHILE</a:t>
            </a:r>
            <a:r>
              <a:rPr lang="en-US" sz="2800" dirty="0">
                <a:solidFill>
                  <a:schemeClr val="bg1"/>
                </a:solidFill>
              </a:rPr>
              <a:t> V_CONTADOR &lt;= 20 </a:t>
            </a:r>
            <a:r>
              <a:rPr lang="en-US" sz="2800" dirty="0">
                <a:solidFill>
                  <a:srgbClr val="FFFF00"/>
                </a:solidFill>
              </a:rPr>
              <a:t>LOOP</a:t>
            </a:r>
            <a:r>
              <a:rPr lang="en-US" sz="2800" dirty="0">
                <a:solidFill>
                  <a:schemeClr val="bg1"/>
                </a:solidFill>
              </a:rPr>
              <a:t> 	DBMS_OUTPUT.PUT_LINE(V_CONTADOR); </a:t>
            </a:r>
            <a:r>
              <a:rPr lang="en-US" sz="2800" dirty="0">
                <a:solidFill>
                  <a:srgbClr val="FFC000"/>
                </a:solidFill>
              </a:rPr>
              <a:t>	V_CONTADOR := V_CONTADOR + 1; </a:t>
            </a:r>
          </a:p>
          <a:p>
            <a:r>
              <a:rPr lang="en-US" sz="2800" dirty="0">
                <a:solidFill>
                  <a:srgbClr val="FFFF00"/>
                </a:solidFill>
              </a:rPr>
              <a:t>END LOOP; </a:t>
            </a:r>
          </a:p>
          <a:p>
            <a:r>
              <a:rPr lang="en-US" sz="2800" dirty="0">
                <a:solidFill>
                  <a:schemeClr val="bg1"/>
                </a:solidFill>
              </a:rPr>
              <a:t>END;</a:t>
            </a:r>
          </a:p>
        </p:txBody>
      </p:sp>
    </p:spTree>
    <p:extLst>
      <p:ext uri="{BB962C8B-B14F-4D97-AF65-F5344CB8AC3E}">
        <p14:creationId xmlns:p14="http://schemas.microsoft.com/office/powerpoint/2010/main" val="387311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234399" cy="769441"/>
          </a:xfrm>
          <a:prstGeom prst="rect">
            <a:avLst/>
          </a:prstGeom>
          <a:noFill/>
        </p:spPr>
        <p:txBody>
          <a:bodyPr wrap="none" rtlCol="0">
            <a:spAutoFit/>
          </a:bodyPr>
          <a:lstStyle/>
          <a:p>
            <a:r>
              <a:rPr lang="pt-BR" sz="4400" dirty="0">
                <a:solidFill>
                  <a:schemeClr val="bg1"/>
                </a:solidFill>
              </a:rPr>
              <a:t>Estrutura de repetição: for</a:t>
            </a:r>
          </a:p>
        </p:txBody>
      </p:sp>
      <p:sp>
        <p:nvSpPr>
          <p:cNvPr id="3" name="Retângulo 2"/>
          <p:cNvSpPr/>
          <p:nvPr/>
        </p:nvSpPr>
        <p:spPr>
          <a:xfrm>
            <a:off x="2048298" y="2955601"/>
            <a:ext cx="7642112" cy="1815882"/>
          </a:xfrm>
          <a:prstGeom prst="rect">
            <a:avLst/>
          </a:prstGeom>
        </p:spPr>
        <p:txBody>
          <a:bodyPr wrap="square">
            <a:spAutoFit/>
          </a:bodyPr>
          <a:lstStyle/>
          <a:p>
            <a:r>
              <a:rPr lang="nl-NL" sz="2800" dirty="0">
                <a:solidFill>
                  <a:srgbClr val="FFFF00"/>
                </a:solidFill>
              </a:rPr>
              <a:t>FOR </a:t>
            </a:r>
            <a:r>
              <a:rPr lang="nl-NL" sz="2800" dirty="0">
                <a:solidFill>
                  <a:schemeClr val="bg1"/>
                </a:solidFill>
              </a:rPr>
              <a:t>&lt; contador&gt; </a:t>
            </a:r>
            <a:r>
              <a:rPr lang="nl-NL" sz="2800" dirty="0">
                <a:solidFill>
                  <a:srgbClr val="FFFF00"/>
                </a:solidFill>
              </a:rPr>
              <a:t>IN </a:t>
            </a:r>
            <a:r>
              <a:rPr lang="nl-NL" sz="2800" dirty="0">
                <a:solidFill>
                  <a:schemeClr val="bg1"/>
                </a:solidFill>
              </a:rPr>
              <a:t>&lt;valor inicial&gt; </a:t>
            </a:r>
            <a:r>
              <a:rPr lang="nl-NL" sz="2800" dirty="0">
                <a:solidFill>
                  <a:srgbClr val="FFFF00"/>
                </a:solidFill>
              </a:rPr>
              <a:t>.. </a:t>
            </a:r>
            <a:r>
              <a:rPr lang="nl-NL" sz="2800" dirty="0">
                <a:solidFill>
                  <a:schemeClr val="bg1"/>
                </a:solidFill>
              </a:rPr>
              <a:t>&lt;valor final&gt; </a:t>
            </a:r>
            <a:r>
              <a:rPr lang="nl-NL" sz="2800" dirty="0">
                <a:solidFill>
                  <a:srgbClr val="FFFF00"/>
                </a:solidFill>
              </a:rPr>
              <a:t>LOOP </a:t>
            </a:r>
          </a:p>
          <a:p>
            <a:r>
              <a:rPr lang="nl-NL" sz="2800" dirty="0">
                <a:solidFill>
                  <a:schemeClr val="bg1"/>
                </a:solidFill>
              </a:rPr>
              <a:t>	&lt; instrução (ões) &gt;;</a:t>
            </a:r>
          </a:p>
          <a:p>
            <a:r>
              <a:rPr lang="nl-NL" sz="2800" dirty="0">
                <a:solidFill>
                  <a:srgbClr val="FFFF00"/>
                </a:solidFill>
              </a:rPr>
              <a:t>END LOOP;</a:t>
            </a:r>
            <a:endParaRPr lang="en-US" sz="2800" dirty="0">
              <a:solidFill>
                <a:srgbClr val="FFFF00"/>
              </a:solidFill>
            </a:endParaRPr>
          </a:p>
        </p:txBody>
      </p:sp>
    </p:spTree>
    <p:extLst>
      <p:ext uri="{BB962C8B-B14F-4D97-AF65-F5344CB8AC3E}">
        <p14:creationId xmlns:p14="http://schemas.microsoft.com/office/powerpoint/2010/main" val="1027659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6234399" cy="769441"/>
          </a:xfrm>
          <a:prstGeom prst="rect">
            <a:avLst/>
          </a:prstGeom>
          <a:noFill/>
        </p:spPr>
        <p:txBody>
          <a:bodyPr wrap="none" rtlCol="0">
            <a:spAutoFit/>
          </a:bodyPr>
          <a:lstStyle/>
          <a:p>
            <a:r>
              <a:rPr lang="pt-BR" sz="4400" dirty="0">
                <a:solidFill>
                  <a:schemeClr val="bg1"/>
                </a:solidFill>
              </a:rPr>
              <a:t>Estrutura de repetição: for</a:t>
            </a:r>
          </a:p>
        </p:txBody>
      </p:sp>
      <p:sp>
        <p:nvSpPr>
          <p:cNvPr id="3" name="Retângulo 2"/>
          <p:cNvSpPr/>
          <p:nvPr/>
        </p:nvSpPr>
        <p:spPr>
          <a:xfrm>
            <a:off x="2048298" y="2955601"/>
            <a:ext cx="7642112" cy="2246769"/>
          </a:xfrm>
          <a:prstGeom prst="rect">
            <a:avLst/>
          </a:prstGeom>
        </p:spPr>
        <p:txBody>
          <a:bodyPr wrap="square">
            <a:spAutoFit/>
          </a:bodyPr>
          <a:lstStyle/>
          <a:p>
            <a:r>
              <a:rPr lang="en-US" sz="2800" dirty="0">
                <a:solidFill>
                  <a:schemeClr val="bg1"/>
                </a:solidFill>
              </a:rPr>
              <a:t>BEGIN </a:t>
            </a:r>
          </a:p>
          <a:p>
            <a:r>
              <a:rPr lang="en-US" sz="2800" dirty="0">
                <a:solidFill>
                  <a:srgbClr val="FFFF00"/>
                </a:solidFill>
              </a:rPr>
              <a:t>FOR</a:t>
            </a:r>
            <a:r>
              <a:rPr lang="en-US" sz="2800" dirty="0">
                <a:solidFill>
                  <a:schemeClr val="bg1"/>
                </a:solidFill>
              </a:rPr>
              <a:t> V_CONTADOR </a:t>
            </a:r>
            <a:r>
              <a:rPr lang="en-US" sz="2800" dirty="0">
                <a:solidFill>
                  <a:srgbClr val="FFFF00"/>
                </a:solidFill>
              </a:rPr>
              <a:t>IN</a:t>
            </a:r>
            <a:r>
              <a:rPr lang="en-US" sz="2800" dirty="0">
                <a:solidFill>
                  <a:schemeClr val="bg1"/>
                </a:solidFill>
              </a:rPr>
              <a:t> 1..20 </a:t>
            </a:r>
            <a:r>
              <a:rPr lang="en-US" sz="2800" dirty="0">
                <a:solidFill>
                  <a:srgbClr val="FFFF00"/>
                </a:solidFill>
              </a:rPr>
              <a:t>LOOP</a:t>
            </a:r>
            <a:r>
              <a:rPr lang="en-US" sz="2800" dirty="0">
                <a:solidFill>
                  <a:schemeClr val="bg1"/>
                </a:solidFill>
              </a:rPr>
              <a:t> 	DBMS_OUTPUT.PUT_LINE(V_CONTADOR); </a:t>
            </a:r>
            <a:r>
              <a:rPr lang="en-US" sz="2800" dirty="0">
                <a:solidFill>
                  <a:srgbClr val="FFFF00"/>
                </a:solidFill>
              </a:rPr>
              <a:t>END LOOP;</a:t>
            </a:r>
            <a:r>
              <a:rPr lang="en-US" sz="2800" dirty="0">
                <a:solidFill>
                  <a:schemeClr val="bg1"/>
                </a:solidFill>
              </a:rPr>
              <a:t> </a:t>
            </a:r>
          </a:p>
          <a:p>
            <a:r>
              <a:rPr lang="en-US" sz="2800" dirty="0">
                <a:solidFill>
                  <a:schemeClr val="bg1"/>
                </a:solidFill>
              </a:rPr>
              <a:t>END;</a:t>
            </a:r>
          </a:p>
        </p:txBody>
      </p:sp>
    </p:spTree>
    <p:extLst>
      <p:ext uri="{BB962C8B-B14F-4D97-AF65-F5344CB8AC3E}">
        <p14:creationId xmlns:p14="http://schemas.microsoft.com/office/powerpoint/2010/main" val="96172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8350684" cy="769441"/>
          </a:xfrm>
          <a:prstGeom prst="rect">
            <a:avLst/>
          </a:prstGeom>
          <a:noFill/>
        </p:spPr>
        <p:txBody>
          <a:bodyPr wrap="none" rtlCol="0">
            <a:spAutoFit/>
          </a:bodyPr>
          <a:lstStyle/>
          <a:p>
            <a:r>
              <a:rPr lang="pt-BR" sz="4400" dirty="0">
                <a:solidFill>
                  <a:schemeClr val="bg1"/>
                </a:solidFill>
              </a:rPr>
              <a:t>Estrutura de repetição: for - reverse</a:t>
            </a:r>
          </a:p>
        </p:txBody>
      </p:sp>
      <p:sp>
        <p:nvSpPr>
          <p:cNvPr id="3" name="Retângulo 2"/>
          <p:cNvSpPr/>
          <p:nvPr/>
        </p:nvSpPr>
        <p:spPr>
          <a:xfrm>
            <a:off x="2048298" y="2955601"/>
            <a:ext cx="7642112" cy="2246769"/>
          </a:xfrm>
          <a:prstGeom prst="rect">
            <a:avLst/>
          </a:prstGeom>
        </p:spPr>
        <p:txBody>
          <a:bodyPr wrap="square">
            <a:spAutoFit/>
          </a:bodyPr>
          <a:lstStyle/>
          <a:p>
            <a:r>
              <a:rPr lang="en-US" sz="2800" dirty="0">
                <a:solidFill>
                  <a:schemeClr val="bg1"/>
                </a:solidFill>
              </a:rPr>
              <a:t>BEGIN </a:t>
            </a:r>
          </a:p>
          <a:p>
            <a:r>
              <a:rPr lang="en-US" sz="2800" dirty="0">
                <a:solidFill>
                  <a:srgbClr val="FFFF00"/>
                </a:solidFill>
              </a:rPr>
              <a:t>FOR</a:t>
            </a:r>
            <a:r>
              <a:rPr lang="en-US" sz="2800" dirty="0">
                <a:solidFill>
                  <a:schemeClr val="bg1"/>
                </a:solidFill>
              </a:rPr>
              <a:t> V_CONTADOR </a:t>
            </a:r>
            <a:r>
              <a:rPr lang="en-US" sz="2800" dirty="0">
                <a:solidFill>
                  <a:srgbClr val="FFFF00"/>
                </a:solidFill>
              </a:rPr>
              <a:t>IN</a:t>
            </a:r>
            <a:r>
              <a:rPr lang="en-US" sz="2800" dirty="0">
                <a:solidFill>
                  <a:schemeClr val="bg1"/>
                </a:solidFill>
              </a:rPr>
              <a:t> </a:t>
            </a:r>
            <a:r>
              <a:rPr lang="en-US" sz="2800" dirty="0">
                <a:solidFill>
                  <a:srgbClr val="FFC000"/>
                </a:solidFill>
              </a:rPr>
              <a:t>REVERSE </a:t>
            </a:r>
            <a:r>
              <a:rPr lang="en-US" sz="2800" dirty="0">
                <a:solidFill>
                  <a:schemeClr val="bg1"/>
                </a:solidFill>
              </a:rPr>
              <a:t>1..20 </a:t>
            </a:r>
            <a:r>
              <a:rPr lang="en-US" sz="2800" dirty="0">
                <a:solidFill>
                  <a:srgbClr val="FFFF00"/>
                </a:solidFill>
              </a:rPr>
              <a:t>LOOP</a:t>
            </a:r>
            <a:r>
              <a:rPr lang="en-US" sz="2800" dirty="0">
                <a:solidFill>
                  <a:schemeClr val="bg1"/>
                </a:solidFill>
              </a:rPr>
              <a:t> 	DBMS_OUTPUT.PUT_LINE(V_CONTADOR); </a:t>
            </a:r>
            <a:r>
              <a:rPr lang="en-US" sz="2800" dirty="0">
                <a:solidFill>
                  <a:srgbClr val="FFFF00"/>
                </a:solidFill>
              </a:rPr>
              <a:t>END LOOP;</a:t>
            </a:r>
            <a:r>
              <a:rPr lang="en-US" sz="2800" dirty="0">
                <a:solidFill>
                  <a:schemeClr val="bg1"/>
                </a:solidFill>
              </a:rPr>
              <a:t> </a:t>
            </a:r>
          </a:p>
          <a:p>
            <a:r>
              <a:rPr lang="en-US" sz="2800" dirty="0">
                <a:solidFill>
                  <a:schemeClr val="bg1"/>
                </a:solidFill>
              </a:rPr>
              <a:t>END;</a:t>
            </a:r>
          </a:p>
        </p:txBody>
      </p:sp>
    </p:spTree>
    <p:extLst>
      <p:ext uri="{BB962C8B-B14F-4D97-AF65-F5344CB8AC3E}">
        <p14:creationId xmlns:p14="http://schemas.microsoft.com/office/powerpoint/2010/main" val="1075894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7806368" cy="769441"/>
          </a:xfrm>
          <a:prstGeom prst="rect">
            <a:avLst/>
          </a:prstGeom>
          <a:noFill/>
        </p:spPr>
        <p:txBody>
          <a:bodyPr wrap="none" rtlCol="0">
            <a:spAutoFit/>
          </a:bodyPr>
          <a:lstStyle/>
          <a:p>
            <a:r>
              <a:rPr lang="pt-BR" sz="4400" dirty="0">
                <a:solidFill>
                  <a:schemeClr val="bg1"/>
                </a:solidFill>
              </a:rPr>
              <a:t>Estrutura de repetição: exercícios</a:t>
            </a:r>
          </a:p>
        </p:txBody>
      </p:sp>
      <p:sp>
        <p:nvSpPr>
          <p:cNvPr id="3" name="Retângulo 2"/>
          <p:cNvSpPr/>
          <p:nvPr/>
        </p:nvSpPr>
        <p:spPr>
          <a:xfrm>
            <a:off x="2048298" y="2955601"/>
            <a:ext cx="7642112" cy="1384995"/>
          </a:xfrm>
          <a:prstGeom prst="rect">
            <a:avLst/>
          </a:prstGeom>
        </p:spPr>
        <p:txBody>
          <a:bodyPr wrap="square">
            <a:spAutoFit/>
          </a:bodyPr>
          <a:lstStyle/>
          <a:p>
            <a:r>
              <a:rPr lang="en-US" sz="2800" dirty="0">
                <a:solidFill>
                  <a:schemeClr val="bg1"/>
                </a:solidFill>
              </a:rPr>
              <a:t>1. Montar um bloco de programação que realize o processamento de uma tabuada qualquer, por exemplo a tabuada do número 150.</a:t>
            </a:r>
          </a:p>
        </p:txBody>
      </p:sp>
    </p:spTree>
    <p:extLst>
      <p:ext uri="{BB962C8B-B14F-4D97-AF65-F5344CB8AC3E}">
        <p14:creationId xmlns:p14="http://schemas.microsoft.com/office/powerpoint/2010/main" val="62693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3512422" y="999926"/>
            <a:ext cx="4200637" cy="769441"/>
          </a:xfrm>
          <a:prstGeom prst="rect">
            <a:avLst/>
          </a:prstGeom>
          <a:noFill/>
        </p:spPr>
        <p:txBody>
          <a:bodyPr wrap="none" rtlCol="0">
            <a:spAutoFit/>
          </a:bodyPr>
          <a:lstStyle/>
          <a:p>
            <a:r>
              <a:rPr lang="pt-BR" sz="4400" dirty="0">
                <a:solidFill>
                  <a:schemeClr val="bg1"/>
                </a:solidFill>
              </a:rPr>
              <a:t>Gabarito tabuada</a:t>
            </a:r>
          </a:p>
        </p:txBody>
      </p:sp>
      <p:sp>
        <p:nvSpPr>
          <p:cNvPr id="3" name="Retângulo 2"/>
          <p:cNvSpPr/>
          <p:nvPr/>
        </p:nvSpPr>
        <p:spPr>
          <a:xfrm>
            <a:off x="235365" y="2005358"/>
            <a:ext cx="11495824" cy="3170099"/>
          </a:xfrm>
          <a:prstGeom prst="rect">
            <a:avLst/>
          </a:prstGeom>
        </p:spPr>
        <p:txBody>
          <a:bodyPr wrap="square">
            <a:spAutoFit/>
          </a:bodyPr>
          <a:lstStyle/>
          <a:p>
            <a:r>
              <a:rPr lang="en-US" sz="2000" dirty="0">
                <a:solidFill>
                  <a:schemeClr val="bg1"/>
                </a:solidFill>
              </a:rPr>
              <a:t>DECLARE </a:t>
            </a:r>
          </a:p>
          <a:p>
            <a:r>
              <a:rPr lang="en-US" sz="2000" dirty="0">
                <a:solidFill>
                  <a:schemeClr val="bg1"/>
                </a:solidFill>
              </a:rPr>
              <a:t>    </a:t>
            </a:r>
            <a:r>
              <a:rPr lang="en-US" sz="2000" dirty="0" err="1">
                <a:solidFill>
                  <a:schemeClr val="bg1"/>
                </a:solidFill>
              </a:rPr>
              <a:t>v_tabuada</a:t>
            </a:r>
            <a:r>
              <a:rPr lang="en-US" sz="2000" dirty="0">
                <a:solidFill>
                  <a:schemeClr val="bg1"/>
                </a:solidFill>
              </a:rPr>
              <a:t> number(2) := &amp;</a:t>
            </a:r>
            <a:r>
              <a:rPr lang="en-US" sz="2000" dirty="0" err="1">
                <a:solidFill>
                  <a:schemeClr val="bg1"/>
                </a:solidFill>
              </a:rPr>
              <a:t>tabuada</a:t>
            </a:r>
            <a:r>
              <a:rPr lang="en-US" sz="2000" dirty="0">
                <a:solidFill>
                  <a:schemeClr val="bg1"/>
                </a:solidFill>
              </a:rPr>
              <a:t>;</a:t>
            </a:r>
          </a:p>
          <a:p>
            <a:r>
              <a:rPr lang="en-US" sz="2000" dirty="0">
                <a:solidFill>
                  <a:schemeClr val="bg1"/>
                </a:solidFill>
              </a:rPr>
              <a:t>	V_CONTADOR NUMBER(2):= 0; </a:t>
            </a:r>
          </a:p>
          <a:p>
            <a:r>
              <a:rPr lang="en-US" sz="2000" dirty="0">
                <a:solidFill>
                  <a:schemeClr val="bg1"/>
                </a:solidFill>
              </a:rPr>
              <a:t>BEGIN </a:t>
            </a:r>
          </a:p>
          <a:p>
            <a:r>
              <a:rPr lang="en-US" sz="2000" dirty="0">
                <a:solidFill>
                  <a:schemeClr val="bg1"/>
                </a:solidFill>
              </a:rPr>
              <a:t>LOOP 	</a:t>
            </a:r>
          </a:p>
          <a:p>
            <a:r>
              <a:rPr lang="en-US" sz="2000" dirty="0">
                <a:solidFill>
                  <a:schemeClr val="bg1"/>
                </a:solidFill>
              </a:rPr>
              <a:t>	DBMS_OUTPUT.PUT_LINE(V_CONTADOR||' X '||</a:t>
            </a:r>
            <a:r>
              <a:rPr lang="en-US" sz="2000" dirty="0" err="1">
                <a:solidFill>
                  <a:schemeClr val="bg1"/>
                </a:solidFill>
              </a:rPr>
              <a:t>v_tabuada</a:t>
            </a:r>
            <a:r>
              <a:rPr lang="en-US" sz="2000" dirty="0">
                <a:solidFill>
                  <a:schemeClr val="bg1"/>
                </a:solidFill>
              </a:rPr>
              <a:t>||' = '||</a:t>
            </a:r>
            <a:r>
              <a:rPr lang="en-US" sz="2000" dirty="0" err="1">
                <a:solidFill>
                  <a:schemeClr val="bg1"/>
                </a:solidFill>
              </a:rPr>
              <a:t>v_contador</a:t>
            </a:r>
            <a:r>
              <a:rPr lang="en-US" sz="2000" dirty="0">
                <a:solidFill>
                  <a:schemeClr val="bg1"/>
                </a:solidFill>
              </a:rPr>
              <a:t> * </a:t>
            </a:r>
            <a:r>
              <a:rPr lang="en-US" sz="2000" dirty="0" err="1">
                <a:solidFill>
                  <a:schemeClr val="bg1"/>
                </a:solidFill>
              </a:rPr>
              <a:t>v_tabuada</a:t>
            </a:r>
            <a:r>
              <a:rPr lang="en-US" sz="2000" dirty="0">
                <a:solidFill>
                  <a:schemeClr val="bg1"/>
                </a:solidFill>
              </a:rPr>
              <a:t>); </a:t>
            </a:r>
          </a:p>
          <a:p>
            <a:r>
              <a:rPr lang="en-US" sz="2000" dirty="0">
                <a:solidFill>
                  <a:schemeClr val="bg1"/>
                </a:solidFill>
              </a:rPr>
              <a:t>	V_CONTADOR := V_CONTADOR + 1; </a:t>
            </a:r>
          </a:p>
          <a:p>
            <a:r>
              <a:rPr lang="en-US" sz="2000" dirty="0">
                <a:solidFill>
                  <a:schemeClr val="bg1"/>
                </a:solidFill>
              </a:rPr>
              <a:t>	EXIT WHEN V_CONTADOR &gt; 10; </a:t>
            </a:r>
          </a:p>
          <a:p>
            <a:r>
              <a:rPr lang="en-US" sz="2000" dirty="0">
                <a:solidFill>
                  <a:schemeClr val="bg1"/>
                </a:solidFill>
              </a:rPr>
              <a:t>END LOOP; </a:t>
            </a:r>
          </a:p>
          <a:p>
            <a:r>
              <a:rPr lang="en-US" sz="2000" dirty="0">
                <a:solidFill>
                  <a:schemeClr val="bg1"/>
                </a:solidFill>
              </a:rPr>
              <a:t>END;</a:t>
            </a:r>
          </a:p>
        </p:txBody>
      </p:sp>
    </p:spTree>
    <p:extLst>
      <p:ext uri="{BB962C8B-B14F-4D97-AF65-F5344CB8AC3E}">
        <p14:creationId xmlns:p14="http://schemas.microsoft.com/office/powerpoint/2010/main" val="3040023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3512422" y="889170"/>
            <a:ext cx="4200637" cy="769441"/>
          </a:xfrm>
          <a:prstGeom prst="rect">
            <a:avLst/>
          </a:prstGeom>
          <a:noFill/>
        </p:spPr>
        <p:txBody>
          <a:bodyPr wrap="none" rtlCol="0">
            <a:spAutoFit/>
          </a:bodyPr>
          <a:lstStyle/>
          <a:p>
            <a:r>
              <a:rPr lang="pt-BR" sz="4400" dirty="0">
                <a:solidFill>
                  <a:schemeClr val="bg1"/>
                </a:solidFill>
              </a:rPr>
              <a:t>Gabarito tabuada</a:t>
            </a:r>
          </a:p>
        </p:txBody>
      </p:sp>
      <p:sp>
        <p:nvSpPr>
          <p:cNvPr id="3" name="Retângulo 2"/>
          <p:cNvSpPr/>
          <p:nvPr/>
        </p:nvSpPr>
        <p:spPr>
          <a:xfrm>
            <a:off x="235365" y="1995129"/>
            <a:ext cx="11725577" cy="3416320"/>
          </a:xfrm>
          <a:prstGeom prst="rect">
            <a:avLst/>
          </a:prstGeom>
        </p:spPr>
        <p:txBody>
          <a:bodyPr wrap="square">
            <a:spAutoFit/>
          </a:bodyPr>
          <a:lstStyle/>
          <a:p>
            <a:r>
              <a:rPr lang="en-US" sz="2400" dirty="0">
                <a:solidFill>
                  <a:schemeClr val="bg1"/>
                </a:solidFill>
              </a:rPr>
              <a:t>DECLARE </a:t>
            </a:r>
          </a:p>
          <a:p>
            <a:r>
              <a:rPr lang="en-US" sz="2400" dirty="0">
                <a:solidFill>
                  <a:schemeClr val="bg1"/>
                </a:solidFill>
              </a:rPr>
              <a:t>    </a:t>
            </a:r>
            <a:r>
              <a:rPr lang="en-US" sz="2400" dirty="0" err="1">
                <a:solidFill>
                  <a:schemeClr val="bg1"/>
                </a:solidFill>
              </a:rPr>
              <a:t>v_tabuada</a:t>
            </a:r>
            <a:r>
              <a:rPr lang="en-US" sz="2400" dirty="0">
                <a:solidFill>
                  <a:schemeClr val="bg1"/>
                </a:solidFill>
              </a:rPr>
              <a:t> number(3) := &amp;</a:t>
            </a:r>
            <a:r>
              <a:rPr lang="en-US" sz="2400" dirty="0" err="1">
                <a:solidFill>
                  <a:schemeClr val="bg1"/>
                </a:solidFill>
              </a:rPr>
              <a:t>tabuada</a:t>
            </a:r>
            <a:r>
              <a:rPr lang="en-US" sz="2400" dirty="0">
                <a:solidFill>
                  <a:schemeClr val="bg1"/>
                </a:solidFill>
              </a:rPr>
              <a:t>;</a:t>
            </a:r>
          </a:p>
          <a:p>
            <a:r>
              <a:rPr lang="en-US" sz="2400" dirty="0">
                <a:solidFill>
                  <a:schemeClr val="bg1"/>
                </a:solidFill>
              </a:rPr>
              <a:t>    V_CONTADOR NUMBER(2):= 0; </a:t>
            </a:r>
          </a:p>
          <a:p>
            <a:r>
              <a:rPr lang="en-US" sz="2400" dirty="0">
                <a:solidFill>
                  <a:schemeClr val="bg1"/>
                </a:solidFill>
              </a:rPr>
              <a:t>BEGIN </a:t>
            </a:r>
          </a:p>
          <a:p>
            <a:r>
              <a:rPr lang="en-US" sz="2400" dirty="0">
                <a:solidFill>
                  <a:schemeClr val="bg1"/>
                </a:solidFill>
              </a:rPr>
              <a:t>WHILE V_CONTADOR &lt;= 10 LOOP</a:t>
            </a:r>
          </a:p>
          <a:p>
            <a:r>
              <a:rPr lang="en-US" sz="2400" dirty="0">
                <a:solidFill>
                  <a:schemeClr val="bg1"/>
                </a:solidFill>
              </a:rPr>
              <a:t>DBMS_OUTPUT.PUT_LINE(V_CONTADOR||' X '||</a:t>
            </a:r>
            <a:r>
              <a:rPr lang="en-US" sz="2400" dirty="0" err="1">
                <a:solidFill>
                  <a:schemeClr val="bg1"/>
                </a:solidFill>
              </a:rPr>
              <a:t>v_tabuada</a:t>
            </a:r>
            <a:r>
              <a:rPr lang="en-US" sz="2400" dirty="0">
                <a:solidFill>
                  <a:schemeClr val="bg1"/>
                </a:solidFill>
              </a:rPr>
              <a:t>||' = '||</a:t>
            </a:r>
            <a:r>
              <a:rPr lang="en-US" sz="2400" dirty="0" err="1">
                <a:solidFill>
                  <a:schemeClr val="bg1"/>
                </a:solidFill>
              </a:rPr>
              <a:t>v_contador</a:t>
            </a:r>
            <a:r>
              <a:rPr lang="en-US" sz="2400" dirty="0">
                <a:solidFill>
                  <a:schemeClr val="bg1"/>
                </a:solidFill>
              </a:rPr>
              <a:t> * </a:t>
            </a:r>
            <a:r>
              <a:rPr lang="en-US" sz="2400" dirty="0" err="1">
                <a:solidFill>
                  <a:schemeClr val="bg1"/>
                </a:solidFill>
              </a:rPr>
              <a:t>v_tabuada</a:t>
            </a:r>
            <a:r>
              <a:rPr lang="en-US" sz="2400" dirty="0">
                <a:solidFill>
                  <a:schemeClr val="bg1"/>
                </a:solidFill>
              </a:rPr>
              <a:t>); </a:t>
            </a:r>
          </a:p>
          <a:p>
            <a:r>
              <a:rPr lang="en-US" sz="2400" dirty="0">
                <a:solidFill>
                  <a:schemeClr val="bg1"/>
                </a:solidFill>
              </a:rPr>
              <a:t>V_CONTADOR := V_CONTADOR + 1; </a:t>
            </a:r>
          </a:p>
          <a:p>
            <a:r>
              <a:rPr lang="en-US" sz="2400" dirty="0">
                <a:solidFill>
                  <a:schemeClr val="bg1"/>
                </a:solidFill>
              </a:rPr>
              <a:t>END LOOP; </a:t>
            </a:r>
          </a:p>
          <a:p>
            <a:r>
              <a:rPr lang="en-US" sz="2400" dirty="0">
                <a:solidFill>
                  <a:schemeClr val="bg1"/>
                </a:solidFill>
              </a:rPr>
              <a:t>END;</a:t>
            </a:r>
          </a:p>
        </p:txBody>
      </p:sp>
    </p:spTree>
    <p:extLst>
      <p:ext uri="{BB962C8B-B14F-4D97-AF65-F5344CB8AC3E}">
        <p14:creationId xmlns:p14="http://schemas.microsoft.com/office/powerpoint/2010/main" val="1667820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3512422" y="889170"/>
            <a:ext cx="4200637" cy="769441"/>
          </a:xfrm>
          <a:prstGeom prst="rect">
            <a:avLst/>
          </a:prstGeom>
          <a:noFill/>
        </p:spPr>
        <p:txBody>
          <a:bodyPr wrap="none" rtlCol="0">
            <a:spAutoFit/>
          </a:bodyPr>
          <a:lstStyle/>
          <a:p>
            <a:r>
              <a:rPr lang="pt-BR" sz="4400" dirty="0">
                <a:solidFill>
                  <a:schemeClr val="bg1"/>
                </a:solidFill>
              </a:rPr>
              <a:t>Gabarito tabuada</a:t>
            </a:r>
          </a:p>
        </p:txBody>
      </p:sp>
      <p:sp>
        <p:nvSpPr>
          <p:cNvPr id="7" name="Rectangle 6">
            <a:extLst>
              <a:ext uri="{FF2B5EF4-FFF2-40B4-BE49-F238E27FC236}">
                <a16:creationId xmlns:a16="http://schemas.microsoft.com/office/drawing/2014/main" id="{3EA41FF7-ED95-4B9A-B181-DCC9849889BE}"/>
              </a:ext>
            </a:extLst>
          </p:cNvPr>
          <p:cNvSpPr/>
          <p:nvPr/>
        </p:nvSpPr>
        <p:spPr>
          <a:xfrm>
            <a:off x="904568" y="2468657"/>
            <a:ext cx="10382863" cy="2246769"/>
          </a:xfrm>
          <a:prstGeom prst="rect">
            <a:avLst/>
          </a:prstGeom>
        </p:spPr>
        <p:txBody>
          <a:bodyPr wrap="square">
            <a:spAutoFit/>
          </a:bodyPr>
          <a:lstStyle/>
          <a:p>
            <a:r>
              <a:rPr lang="pt-BR" sz="2000" dirty="0">
                <a:solidFill>
                  <a:schemeClr val="bg1"/>
                </a:solidFill>
              </a:rPr>
              <a:t>DECLARE</a:t>
            </a:r>
          </a:p>
          <a:p>
            <a:r>
              <a:rPr lang="pt-BR" sz="2000" dirty="0">
                <a:solidFill>
                  <a:schemeClr val="bg1"/>
                </a:solidFill>
              </a:rPr>
              <a:t>    V_TABUADA NUMBER(3) := &amp;tabuada;</a:t>
            </a:r>
          </a:p>
          <a:p>
            <a:r>
              <a:rPr lang="pt-BR" sz="2000" dirty="0">
                <a:solidFill>
                  <a:schemeClr val="bg1"/>
                </a:solidFill>
              </a:rPr>
              <a:t>BEGIN </a:t>
            </a:r>
          </a:p>
          <a:p>
            <a:r>
              <a:rPr lang="pt-BR" sz="2000" dirty="0">
                <a:solidFill>
                  <a:schemeClr val="bg1"/>
                </a:solidFill>
              </a:rPr>
              <a:t>    FOR V_CONTADOR IN 1..10 LOOP 	</a:t>
            </a:r>
          </a:p>
          <a:p>
            <a:r>
              <a:rPr lang="pt-BR" sz="2000" dirty="0">
                <a:solidFill>
                  <a:schemeClr val="bg1"/>
                </a:solidFill>
              </a:rPr>
              <a:t>        DBMS_OUTPUT.PUT_LINE(V_CONTADOR||' X '||</a:t>
            </a:r>
            <a:r>
              <a:rPr lang="pt-BR" sz="2000" dirty="0" err="1">
                <a:solidFill>
                  <a:schemeClr val="bg1"/>
                </a:solidFill>
              </a:rPr>
              <a:t>v_tabuada</a:t>
            </a:r>
            <a:r>
              <a:rPr lang="pt-BR" sz="2000" dirty="0">
                <a:solidFill>
                  <a:schemeClr val="bg1"/>
                </a:solidFill>
              </a:rPr>
              <a:t>||' = '||</a:t>
            </a:r>
            <a:r>
              <a:rPr lang="pt-BR" sz="2000" dirty="0" err="1">
                <a:solidFill>
                  <a:schemeClr val="bg1"/>
                </a:solidFill>
              </a:rPr>
              <a:t>v_contador</a:t>
            </a:r>
            <a:r>
              <a:rPr lang="pt-BR" sz="2000" dirty="0">
                <a:solidFill>
                  <a:schemeClr val="bg1"/>
                </a:solidFill>
              </a:rPr>
              <a:t> * </a:t>
            </a:r>
            <a:r>
              <a:rPr lang="pt-BR" sz="2000" dirty="0" err="1">
                <a:solidFill>
                  <a:schemeClr val="bg1"/>
                </a:solidFill>
              </a:rPr>
              <a:t>v_tabuada</a:t>
            </a:r>
            <a:r>
              <a:rPr lang="pt-BR" sz="2000" dirty="0">
                <a:solidFill>
                  <a:schemeClr val="bg1"/>
                </a:solidFill>
              </a:rPr>
              <a:t>); </a:t>
            </a:r>
          </a:p>
          <a:p>
            <a:r>
              <a:rPr lang="pt-BR" sz="2000" dirty="0">
                <a:solidFill>
                  <a:schemeClr val="bg1"/>
                </a:solidFill>
              </a:rPr>
              <a:t>    </a:t>
            </a:r>
            <a:r>
              <a:rPr lang="pt-BR" sz="2000" dirty="0" err="1">
                <a:solidFill>
                  <a:schemeClr val="bg1"/>
                </a:solidFill>
              </a:rPr>
              <a:t>end</a:t>
            </a:r>
            <a:r>
              <a:rPr lang="pt-BR" sz="2000" dirty="0">
                <a:solidFill>
                  <a:schemeClr val="bg1"/>
                </a:solidFill>
              </a:rPr>
              <a:t> loop;</a:t>
            </a:r>
          </a:p>
          <a:p>
            <a:r>
              <a:rPr lang="pt-BR" sz="2000" dirty="0">
                <a:solidFill>
                  <a:schemeClr val="bg1"/>
                </a:solidFill>
              </a:rPr>
              <a:t>END;</a:t>
            </a:r>
          </a:p>
        </p:txBody>
      </p:sp>
    </p:spTree>
    <p:extLst>
      <p:ext uri="{BB962C8B-B14F-4D97-AF65-F5344CB8AC3E}">
        <p14:creationId xmlns:p14="http://schemas.microsoft.com/office/powerpoint/2010/main" val="47566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7806368" cy="769441"/>
          </a:xfrm>
          <a:prstGeom prst="rect">
            <a:avLst/>
          </a:prstGeom>
          <a:noFill/>
        </p:spPr>
        <p:txBody>
          <a:bodyPr wrap="none" rtlCol="0">
            <a:spAutoFit/>
          </a:bodyPr>
          <a:lstStyle/>
          <a:p>
            <a:r>
              <a:rPr lang="pt-BR" sz="4400" dirty="0">
                <a:solidFill>
                  <a:schemeClr val="bg1"/>
                </a:solidFill>
              </a:rPr>
              <a:t>Estrutura de repetição: exercícios</a:t>
            </a:r>
          </a:p>
        </p:txBody>
      </p:sp>
      <p:sp>
        <p:nvSpPr>
          <p:cNvPr id="3" name="Retângulo 2"/>
          <p:cNvSpPr/>
          <p:nvPr/>
        </p:nvSpPr>
        <p:spPr>
          <a:xfrm>
            <a:off x="2048298" y="2955601"/>
            <a:ext cx="7642112" cy="954107"/>
          </a:xfrm>
          <a:prstGeom prst="rect">
            <a:avLst/>
          </a:prstGeom>
        </p:spPr>
        <p:txBody>
          <a:bodyPr wrap="square">
            <a:spAutoFit/>
          </a:bodyPr>
          <a:lstStyle/>
          <a:p>
            <a:r>
              <a:rPr lang="en-US" sz="2800" dirty="0">
                <a:solidFill>
                  <a:schemeClr val="bg1"/>
                </a:solidFill>
              </a:rPr>
              <a:t>2. Em um </a:t>
            </a:r>
            <a:r>
              <a:rPr lang="en-US" sz="2800" dirty="0" err="1">
                <a:solidFill>
                  <a:schemeClr val="bg1"/>
                </a:solidFill>
              </a:rPr>
              <a:t>intervalo</a:t>
            </a:r>
            <a:r>
              <a:rPr lang="en-US" sz="2800" dirty="0">
                <a:solidFill>
                  <a:schemeClr val="bg1"/>
                </a:solidFill>
              </a:rPr>
              <a:t> </a:t>
            </a:r>
            <a:r>
              <a:rPr lang="pt-BR" sz="2800" dirty="0">
                <a:solidFill>
                  <a:schemeClr val="bg1"/>
                </a:solidFill>
              </a:rPr>
              <a:t>numérico</a:t>
            </a:r>
            <a:r>
              <a:rPr lang="en-US" sz="2800" dirty="0">
                <a:solidFill>
                  <a:schemeClr val="bg1"/>
                </a:solidFill>
              </a:rPr>
              <a:t> </a:t>
            </a:r>
            <a:r>
              <a:rPr lang="en-US" sz="2800" dirty="0" err="1">
                <a:solidFill>
                  <a:schemeClr val="bg1"/>
                </a:solidFill>
              </a:rPr>
              <a:t>inteiro</a:t>
            </a:r>
            <a:r>
              <a:rPr lang="en-US" sz="2800" dirty="0">
                <a:solidFill>
                  <a:schemeClr val="bg1"/>
                </a:solidFill>
              </a:rPr>
              <a:t>, </a:t>
            </a:r>
            <a:r>
              <a:rPr lang="pt-BR" sz="2800" dirty="0">
                <a:solidFill>
                  <a:schemeClr val="bg1"/>
                </a:solidFill>
              </a:rPr>
              <a:t>informar</a:t>
            </a:r>
            <a:r>
              <a:rPr lang="en-US" sz="2800" dirty="0">
                <a:solidFill>
                  <a:schemeClr val="bg1"/>
                </a:solidFill>
              </a:rPr>
              <a:t> </a:t>
            </a:r>
            <a:r>
              <a:rPr lang="en-US" sz="2800" dirty="0" err="1">
                <a:solidFill>
                  <a:schemeClr val="bg1"/>
                </a:solidFill>
              </a:rPr>
              <a:t>quantos</a:t>
            </a:r>
            <a:r>
              <a:rPr lang="en-US" sz="2800" dirty="0">
                <a:solidFill>
                  <a:schemeClr val="bg1"/>
                </a:solidFill>
              </a:rPr>
              <a:t> </a:t>
            </a:r>
            <a:r>
              <a:rPr lang="en-US" sz="2800" dirty="0" err="1">
                <a:solidFill>
                  <a:schemeClr val="bg1"/>
                </a:solidFill>
              </a:rPr>
              <a:t>números</a:t>
            </a:r>
            <a:r>
              <a:rPr lang="en-US" sz="2800" dirty="0">
                <a:solidFill>
                  <a:schemeClr val="bg1"/>
                </a:solidFill>
              </a:rPr>
              <a:t> </a:t>
            </a:r>
            <a:r>
              <a:rPr lang="en-US" sz="2800" dirty="0" err="1">
                <a:solidFill>
                  <a:schemeClr val="bg1"/>
                </a:solidFill>
              </a:rPr>
              <a:t>são</a:t>
            </a:r>
            <a:r>
              <a:rPr lang="en-US" sz="2800" dirty="0">
                <a:solidFill>
                  <a:schemeClr val="bg1"/>
                </a:solidFill>
              </a:rPr>
              <a:t> pares e </a:t>
            </a:r>
            <a:r>
              <a:rPr lang="en-US" sz="2800" dirty="0" err="1">
                <a:solidFill>
                  <a:schemeClr val="bg1"/>
                </a:solidFill>
              </a:rPr>
              <a:t>quantos</a:t>
            </a:r>
            <a:r>
              <a:rPr lang="en-US" sz="2800" dirty="0">
                <a:solidFill>
                  <a:schemeClr val="bg1"/>
                </a:solidFill>
              </a:rPr>
              <a:t> </a:t>
            </a:r>
            <a:r>
              <a:rPr lang="en-US" sz="2800" dirty="0" err="1">
                <a:solidFill>
                  <a:schemeClr val="bg1"/>
                </a:solidFill>
              </a:rPr>
              <a:t>são</a:t>
            </a:r>
            <a:r>
              <a:rPr lang="en-US" sz="2800" dirty="0">
                <a:solidFill>
                  <a:schemeClr val="bg1"/>
                </a:solidFill>
              </a:rPr>
              <a:t> </a:t>
            </a:r>
            <a:r>
              <a:rPr lang="en-US" sz="2800" dirty="0" err="1">
                <a:solidFill>
                  <a:schemeClr val="bg1"/>
                </a:solidFill>
              </a:rPr>
              <a:t>ímpares</a:t>
            </a:r>
            <a:r>
              <a:rPr lang="en-US" sz="2800" dirty="0">
                <a:solidFill>
                  <a:schemeClr val="bg1"/>
                </a:solidFill>
              </a:rPr>
              <a:t>.</a:t>
            </a:r>
          </a:p>
        </p:txBody>
      </p:sp>
    </p:spTree>
    <p:extLst>
      <p:ext uri="{BB962C8B-B14F-4D97-AF65-F5344CB8AC3E}">
        <p14:creationId xmlns:p14="http://schemas.microsoft.com/office/powerpoint/2010/main" val="1206722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703906" y="1205137"/>
            <a:ext cx="1524648" cy="400110"/>
          </a:xfrm>
          <a:prstGeom prst="rect">
            <a:avLst/>
          </a:prstGeom>
          <a:noFill/>
        </p:spPr>
        <p:txBody>
          <a:bodyPr wrap="none" rtlCol="0">
            <a:spAutoFit/>
          </a:bodyPr>
          <a:lstStyle/>
          <a:p>
            <a:r>
              <a:rPr lang="pt-BR" sz="2000" dirty="0">
                <a:solidFill>
                  <a:schemeClr val="bg1"/>
                </a:solidFill>
              </a:rPr>
              <a:t>2. GABARITO</a:t>
            </a:r>
          </a:p>
        </p:txBody>
      </p:sp>
      <p:sp>
        <p:nvSpPr>
          <p:cNvPr id="7" name="CaixaDeTexto 6">
            <a:extLst>
              <a:ext uri="{FF2B5EF4-FFF2-40B4-BE49-F238E27FC236}">
                <a16:creationId xmlns:a16="http://schemas.microsoft.com/office/drawing/2014/main" id="{9CDD5D3D-5A3F-CBB9-4691-D5DC3F903098}"/>
              </a:ext>
            </a:extLst>
          </p:cNvPr>
          <p:cNvSpPr txBox="1"/>
          <p:nvPr/>
        </p:nvSpPr>
        <p:spPr>
          <a:xfrm>
            <a:off x="802258" y="1729086"/>
            <a:ext cx="10757140" cy="4832092"/>
          </a:xfrm>
          <a:prstGeom prst="rect">
            <a:avLst/>
          </a:prstGeom>
          <a:noFill/>
        </p:spPr>
        <p:txBody>
          <a:bodyPr wrap="square">
            <a:spAutoFit/>
          </a:bodyPr>
          <a:lstStyle/>
          <a:p>
            <a:endParaRPr lang="pt-BR" sz="1400" b="0" i="0" u="none" strike="noStrike" baseline="0" dirty="0">
              <a:solidFill>
                <a:srgbClr val="000080"/>
              </a:solidFill>
              <a:highlight>
                <a:srgbClr val="FFFFFF"/>
              </a:highlight>
              <a:latin typeface="Courier New" panose="02070309020205020404" pitchFamily="49" charset="0"/>
            </a:endParaRPr>
          </a:p>
          <a:p>
            <a:r>
              <a:rPr lang="pt-BR" sz="1400" b="0" i="0" u="none" strike="noStrike" baseline="0" dirty="0">
                <a:solidFill>
                  <a:srgbClr val="008080"/>
                </a:solidFill>
                <a:latin typeface="Courier New" panose="02070309020205020404" pitchFamily="49" charset="0"/>
              </a:rPr>
              <a:t>DECLARE</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v_inicio</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NUMBER</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1</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Início do intervalo</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v_fim</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NUMBER</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85</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Fim do intervalo</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v_qtd_pares</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NUMBER</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0</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Variável para armazenar a quantidade de números pares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v_qtd_impares</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NUMBER</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0</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Variável para armazenar a quantidade de números ímpares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v_contador</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NUMBER</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Variável de contador para percorrer o intervalo</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8080"/>
                </a:solidFill>
                <a:latin typeface="Courier New" panose="02070309020205020404" pitchFamily="49" charset="0"/>
              </a:rPr>
              <a:t>BEGIN</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Loop para percorrer o intervalo e contar os números pares e ímpares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FOR</a:t>
            </a:r>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v_contador</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IN</a:t>
            </a:r>
            <a:r>
              <a:rPr lang="pt-BR" sz="1400" b="0" i="0" u="none" strike="noStrike" baseline="0" dirty="0">
                <a:solidFill>
                  <a:srgbClr val="000080"/>
                </a:solidFill>
                <a:latin typeface="Courier New" panose="02070309020205020404" pitchFamily="49" charset="0"/>
              </a:rPr>
              <a:t> v_inicio..</a:t>
            </a:r>
            <a:r>
              <a:rPr lang="pt-BR" sz="1400" b="0" i="0" u="none" strike="noStrike" baseline="0" dirty="0" err="1">
                <a:solidFill>
                  <a:srgbClr val="000080"/>
                </a:solidFill>
                <a:latin typeface="Courier New" panose="02070309020205020404" pitchFamily="49" charset="0"/>
              </a:rPr>
              <a:t>v_fim</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LOOP</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IF</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MOD</a:t>
            </a:r>
            <a:r>
              <a:rPr lang="pt-BR" sz="1400" b="0" i="0" u="none" strike="noStrike" baseline="0" dirty="0">
                <a:solidFill>
                  <a:srgbClr val="000080"/>
                </a:solidFill>
                <a:latin typeface="Courier New" panose="02070309020205020404" pitchFamily="49" charset="0"/>
              </a:rPr>
              <a:t>(</a:t>
            </a:r>
            <a:r>
              <a:rPr lang="pt-BR" sz="1400" b="0" i="0" u="none" strike="noStrike" baseline="0" dirty="0" err="1">
                <a:solidFill>
                  <a:srgbClr val="000080"/>
                </a:solidFill>
                <a:latin typeface="Courier New" panose="02070309020205020404" pitchFamily="49" charset="0"/>
              </a:rPr>
              <a:t>v_contador</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00FF"/>
                </a:solidFill>
                <a:latin typeface="Courier New" panose="02070309020205020404" pitchFamily="49" charset="0"/>
              </a:rPr>
              <a:t>2</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0</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THEN</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Verifica se o número é par</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v_qtd_pares</a:t>
            </a:r>
            <a:r>
              <a:rPr lang="pt-BR" sz="1400" b="0" i="0" u="none" strike="noStrike" baseline="0" dirty="0">
                <a:solidFill>
                  <a:srgbClr val="000080"/>
                </a:solidFill>
                <a:latin typeface="Courier New" panose="02070309020205020404" pitchFamily="49" charset="0"/>
              </a:rPr>
              <a:t> := </a:t>
            </a:r>
            <a:r>
              <a:rPr lang="pt-BR" sz="1400" b="0" i="0" u="none" strike="noStrike" baseline="0" dirty="0" err="1">
                <a:solidFill>
                  <a:srgbClr val="000080"/>
                </a:solidFill>
                <a:latin typeface="Courier New" panose="02070309020205020404" pitchFamily="49" charset="0"/>
              </a:rPr>
              <a:t>v_qtd_pares</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1</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Incrementa a quantidade de números pares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ELSE</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err="1">
                <a:solidFill>
                  <a:srgbClr val="000080"/>
                </a:solidFill>
                <a:latin typeface="Courier New" panose="02070309020205020404" pitchFamily="49" charset="0"/>
              </a:rPr>
              <a:t>v_qtd_impares</a:t>
            </a:r>
            <a:r>
              <a:rPr lang="pt-BR" sz="1400" b="0" i="0" u="none" strike="noStrike" baseline="0" dirty="0">
                <a:solidFill>
                  <a:srgbClr val="000080"/>
                </a:solidFill>
                <a:latin typeface="Courier New" panose="02070309020205020404" pitchFamily="49" charset="0"/>
              </a:rPr>
              <a:t> := </a:t>
            </a:r>
            <a:r>
              <a:rPr lang="pt-BR" sz="1400" b="0" i="0" u="none" strike="noStrike" baseline="0" dirty="0" err="1">
                <a:solidFill>
                  <a:srgbClr val="000080"/>
                </a:solidFill>
                <a:latin typeface="Courier New" panose="02070309020205020404" pitchFamily="49" charset="0"/>
              </a:rPr>
              <a:t>v_qtd_impares</a:t>
            </a:r>
            <a:r>
              <a:rPr lang="pt-BR" sz="1400" b="0" i="0" u="none" strike="noStrike" baseline="0" dirty="0">
                <a:solidFill>
                  <a:srgbClr val="000080"/>
                </a:solidFill>
                <a:latin typeface="Courier New" panose="02070309020205020404" pitchFamily="49" charset="0"/>
              </a:rPr>
              <a:t> + </a:t>
            </a:r>
            <a:r>
              <a:rPr lang="pt-BR" sz="1400" b="0" i="0" u="none" strike="noStrike" baseline="0" dirty="0">
                <a:solidFill>
                  <a:srgbClr val="0000FF"/>
                </a:solidFill>
                <a:latin typeface="Courier New" panose="02070309020205020404" pitchFamily="49" charset="0"/>
              </a:rPr>
              <a:t>1</a:t>
            </a:r>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Incrementa a quantidade de números ímpares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END</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IF</a:t>
            </a:r>
            <a:r>
              <a:rPr lang="pt-BR" sz="1400" b="0" i="0" u="none" strike="noStrike" baseline="0" dirty="0">
                <a:solidFill>
                  <a:srgbClr val="000080"/>
                </a:solidFill>
                <a:latin typeface="Courier New" panose="02070309020205020404" pitchFamily="49" charset="0"/>
              </a:rPr>
              <a:t>;</a:t>
            </a:r>
          </a:p>
          <a:p>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END</a:t>
            </a:r>
            <a:r>
              <a:rPr lang="pt-BR" sz="1400" b="0" i="0" u="none" strike="noStrike" baseline="0" dirty="0">
                <a:solidFill>
                  <a:srgbClr val="000080"/>
                </a:solidFill>
                <a:latin typeface="Courier New" panose="02070309020205020404" pitchFamily="49" charset="0"/>
              </a:rPr>
              <a:t> </a:t>
            </a:r>
            <a:r>
              <a:rPr lang="pt-BR" sz="1400" b="0" i="0" u="none" strike="noStrike" baseline="0" dirty="0">
                <a:solidFill>
                  <a:srgbClr val="008080"/>
                </a:solidFill>
                <a:latin typeface="Courier New" panose="02070309020205020404" pitchFamily="49" charset="0"/>
              </a:rPr>
              <a:t>LOOP</a:t>
            </a:r>
            <a:r>
              <a:rPr lang="pt-BR" sz="1400" b="0" i="0" u="none" strike="noStrike" baseline="0" dirty="0">
                <a:solidFill>
                  <a:srgbClr val="000080"/>
                </a:solidFill>
                <a:latin typeface="Courier New" panose="02070309020205020404" pitchFamily="49" charset="0"/>
              </a:rPr>
              <a:t>;</a:t>
            </a:r>
          </a:p>
          <a:p>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a:t>
            </a:r>
            <a:r>
              <a:rPr lang="pt-BR" sz="1400" b="0" i="1" u="none" strike="noStrike" baseline="0" dirty="0">
                <a:solidFill>
                  <a:srgbClr val="FF0000"/>
                </a:solidFill>
                <a:latin typeface="Courier New" panose="02070309020205020404" pitchFamily="49" charset="0"/>
              </a:rPr>
              <a:t>-- Exibição dos resultados</a:t>
            </a:r>
            <a:endParaRPr lang="pt-BR" sz="1400" b="0" i="0" u="none" strike="noStrike" baseline="0" dirty="0">
              <a:solidFill>
                <a:srgbClr val="000080"/>
              </a:solidFill>
              <a:latin typeface="Courier New" panose="02070309020205020404" pitchFamily="49" charset="0"/>
            </a:endParaRPr>
          </a:p>
          <a:p>
            <a:r>
              <a:rPr lang="pt-BR" sz="1400" b="0" i="0" u="none" strike="noStrike" baseline="0" dirty="0">
                <a:solidFill>
                  <a:srgbClr val="000080"/>
                </a:solidFill>
                <a:latin typeface="Courier New" panose="02070309020205020404" pitchFamily="49" charset="0"/>
              </a:rPr>
              <a:t>    DBMS_OUTPUT.PUT_LINE(</a:t>
            </a:r>
            <a:r>
              <a:rPr lang="pt-BR" sz="1400" b="0" i="0" u="none" strike="noStrike" baseline="0" dirty="0">
                <a:solidFill>
                  <a:srgbClr val="0000FF"/>
                </a:solidFill>
                <a:latin typeface="Courier New" panose="02070309020205020404" pitchFamily="49" charset="0"/>
              </a:rPr>
              <a:t>'Quantidade de números pares: '</a:t>
            </a:r>
            <a:r>
              <a:rPr lang="pt-BR" sz="1400" b="0" i="0" u="none" strike="noStrike" baseline="0" dirty="0">
                <a:solidFill>
                  <a:srgbClr val="000080"/>
                </a:solidFill>
                <a:latin typeface="Courier New" panose="02070309020205020404" pitchFamily="49" charset="0"/>
              </a:rPr>
              <a:t> || </a:t>
            </a:r>
            <a:r>
              <a:rPr lang="pt-BR" sz="1400" b="0" i="0" u="none" strike="noStrike" baseline="0" dirty="0" err="1">
                <a:solidFill>
                  <a:srgbClr val="000080"/>
                </a:solidFill>
                <a:latin typeface="Courier New" panose="02070309020205020404" pitchFamily="49" charset="0"/>
              </a:rPr>
              <a:t>v_qtd_pares</a:t>
            </a:r>
            <a:r>
              <a:rPr lang="pt-BR" sz="1400" b="0" i="0" u="none" strike="noStrike" baseline="0" dirty="0">
                <a:solidFill>
                  <a:srgbClr val="000080"/>
                </a:solidFill>
                <a:latin typeface="Courier New" panose="02070309020205020404" pitchFamily="49" charset="0"/>
              </a:rPr>
              <a:t>);</a:t>
            </a:r>
          </a:p>
          <a:p>
            <a:r>
              <a:rPr lang="pt-BR" sz="1400" b="0" i="0" u="none" strike="noStrike" baseline="0" dirty="0">
                <a:solidFill>
                  <a:srgbClr val="000080"/>
                </a:solidFill>
                <a:latin typeface="Courier New" panose="02070309020205020404" pitchFamily="49" charset="0"/>
              </a:rPr>
              <a:t>    DBMS_OUTPUT.PUT_LINE(</a:t>
            </a:r>
            <a:r>
              <a:rPr lang="pt-BR" sz="1400" b="0" i="0" u="none" strike="noStrike" baseline="0" dirty="0">
                <a:solidFill>
                  <a:srgbClr val="0000FF"/>
                </a:solidFill>
                <a:latin typeface="Courier New" panose="02070309020205020404" pitchFamily="49" charset="0"/>
              </a:rPr>
              <a:t>'Quantidade de números ímpares: '</a:t>
            </a:r>
            <a:r>
              <a:rPr lang="pt-BR" sz="1400" b="0" i="0" u="none" strike="noStrike" baseline="0" dirty="0">
                <a:solidFill>
                  <a:srgbClr val="000080"/>
                </a:solidFill>
                <a:latin typeface="Courier New" panose="02070309020205020404" pitchFamily="49" charset="0"/>
              </a:rPr>
              <a:t> || </a:t>
            </a:r>
            <a:r>
              <a:rPr lang="pt-BR" sz="1400" b="0" i="0" u="none" strike="noStrike" baseline="0" dirty="0" err="1">
                <a:solidFill>
                  <a:srgbClr val="000080"/>
                </a:solidFill>
                <a:latin typeface="Courier New" panose="02070309020205020404" pitchFamily="49" charset="0"/>
              </a:rPr>
              <a:t>v_qtd_impares</a:t>
            </a:r>
            <a:r>
              <a:rPr lang="pt-BR" sz="1400" b="0" i="0" u="none" strike="noStrike" baseline="0" dirty="0">
                <a:solidFill>
                  <a:srgbClr val="000080"/>
                </a:solidFill>
                <a:latin typeface="Courier New" panose="02070309020205020404" pitchFamily="49" charset="0"/>
              </a:rPr>
              <a:t>);</a:t>
            </a:r>
          </a:p>
          <a:p>
            <a:r>
              <a:rPr lang="pt-BR" sz="1400" b="0" i="0" u="none" strike="noStrike" baseline="0" dirty="0">
                <a:solidFill>
                  <a:srgbClr val="008080"/>
                </a:solidFill>
                <a:latin typeface="Courier New" panose="02070309020205020404" pitchFamily="49" charset="0"/>
              </a:rPr>
              <a:t>END</a:t>
            </a:r>
            <a:r>
              <a:rPr lang="pt-BR" sz="1400" b="0" i="0" u="none" strike="noStrike" baseline="0" dirty="0">
                <a:solidFill>
                  <a:srgbClr val="000080"/>
                </a:solidFill>
                <a:latin typeface="Courier New" panose="02070309020205020404" pitchFamily="49" charset="0"/>
              </a:rPr>
              <a:t>;</a:t>
            </a:r>
          </a:p>
          <a:p>
            <a:r>
              <a:rPr lang="pt-BR" sz="1400" b="0" i="0" u="none" strike="noStrike" baseline="0" dirty="0">
                <a:solidFill>
                  <a:srgbClr val="000080"/>
                </a:solidFill>
                <a:latin typeface="Courier New" panose="02070309020205020404" pitchFamily="49" charset="0"/>
              </a:rPr>
              <a:t>/</a:t>
            </a:r>
          </a:p>
        </p:txBody>
      </p:sp>
    </p:spTree>
    <p:extLst>
      <p:ext uri="{BB962C8B-B14F-4D97-AF65-F5344CB8AC3E}">
        <p14:creationId xmlns:p14="http://schemas.microsoft.com/office/powerpoint/2010/main" val="3791017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12" name="CaixaDeTexto 11"/>
          <p:cNvSpPr txBox="1"/>
          <p:nvPr/>
        </p:nvSpPr>
        <p:spPr>
          <a:xfrm>
            <a:off x="2048298" y="1455303"/>
            <a:ext cx="7806368" cy="769441"/>
          </a:xfrm>
          <a:prstGeom prst="rect">
            <a:avLst/>
          </a:prstGeom>
          <a:noFill/>
        </p:spPr>
        <p:txBody>
          <a:bodyPr wrap="none" rtlCol="0">
            <a:spAutoFit/>
          </a:bodyPr>
          <a:lstStyle/>
          <a:p>
            <a:r>
              <a:rPr lang="pt-BR" sz="4400" dirty="0">
                <a:solidFill>
                  <a:schemeClr val="bg1"/>
                </a:solidFill>
              </a:rPr>
              <a:t>Estrutura de repetição: exercícios</a:t>
            </a:r>
          </a:p>
        </p:txBody>
      </p:sp>
      <p:sp>
        <p:nvSpPr>
          <p:cNvPr id="3" name="Retângulo 2"/>
          <p:cNvSpPr/>
          <p:nvPr/>
        </p:nvSpPr>
        <p:spPr>
          <a:xfrm>
            <a:off x="2048298" y="2955601"/>
            <a:ext cx="7642112" cy="954107"/>
          </a:xfrm>
          <a:prstGeom prst="rect">
            <a:avLst/>
          </a:prstGeom>
        </p:spPr>
        <p:txBody>
          <a:bodyPr wrap="square">
            <a:spAutoFit/>
          </a:bodyPr>
          <a:lstStyle/>
          <a:p>
            <a:r>
              <a:rPr lang="en-US" sz="2800" dirty="0">
                <a:solidFill>
                  <a:schemeClr val="bg1"/>
                </a:solidFill>
              </a:rPr>
              <a:t>3. </a:t>
            </a:r>
            <a:r>
              <a:rPr lang="pt-BR" sz="2800" dirty="0">
                <a:solidFill>
                  <a:schemeClr val="bg1"/>
                </a:solidFill>
              </a:rPr>
              <a:t>Exibir e média dos valores pares em um intervalo numérico e soma dos ímpares.</a:t>
            </a:r>
            <a:endParaRPr lang="en-US" sz="2800" dirty="0">
              <a:solidFill>
                <a:schemeClr val="bg1"/>
              </a:solidFill>
            </a:endParaRPr>
          </a:p>
        </p:txBody>
      </p:sp>
    </p:spTree>
    <p:extLst>
      <p:ext uri="{BB962C8B-B14F-4D97-AF65-F5344CB8AC3E}">
        <p14:creationId xmlns:p14="http://schemas.microsoft.com/office/powerpoint/2010/main" val="364495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9" name="CaixaDeTexto 8">
            <a:extLst>
              <a:ext uri="{FF2B5EF4-FFF2-40B4-BE49-F238E27FC236}">
                <a16:creationId xmlns:a16="http://schemas.microsoft.com/office/drawing/2014/main" id="{9904C6B9-8806-936C-0B7D-6E238D194C66}"/>
              </a:ext>
            </a:extLst>
          </p:cNvPr>
          <p:cNvSpPr txBox="1"/>
          <p:nvPr/>
        </p:nvSpPr>
        <p:spPr>
          <a:xfrm>
            <a:off x="644105" y="898080"/>
            <a:ext cx="11087083" cy="5847755"/>
          </a:xfrm>
          <a:prstGeom prst="rect">
            <a:avLst/>
          </a:prstGeom>
          <a:noFill/>
        </p:spPr>
        <p:txBody>
          <a:bodyPr wrap="square">
            <a:spAutoFit/>
          </a:bodyPr>
          <a:lstStyle/>
          <a:p>
            <a:r>
              <a:rPr lang="pt-BR" sz="1100" dirty="0">
                <a:solidFill>
                  <a:srgbClr val="008080"/>
                </a:solidFill>
                <a:latin typeface="Courier New" panose="02070309020205020404" pitchFamily="49" charset="0"/>
              </a:rPr>
              <a:t>DECLARE</a:t>
            </a:r>
            <a:endParaRPr lang="pt-BR" sz="110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v_inicio</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1</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Início do intervalo</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v_fim</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10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Fim do intervalo</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v_soma_impares</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para armazenar a soma dos números ímpares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v_qtd_impares</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para contar a quantidade de números ímpares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v_soma_pares</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para armazenar a soma dos números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v_qtd_pares</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para contar a quantidade de números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v_contador</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de contador para percorrer o intervalo</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v_media_pares</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NUMBER</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Variável para armazenar a média dos números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8080"/>
                </a:solidFill>
                <a:latin typeface="Courier New" panose="02070309020205020404" pitchFamily="49" charset="0"/>
              </a:rPr>
              <a:t>BEGIN</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Loop para percorrer o intervalo e calcular a soma dos ímpares e média dos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FOR</a:t>
            </a:r>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v_contador</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IN</a:t>
            </a:r>
            <a:r>
              <a:rPr lang="pt-BR" sz="1100" b="0" i="0" u="none" strike="noStrike" baseline="0" dirty="0">
                <a:solidFill>
                  <a:srgbClr val="000080"/>
                </a:solidFill>
                <a:latin typeface="Courier New" panose="02070309020205020404" pitchFamily="49" charset="0"/>
              </a:rPr>
              <a:t> v_inicio..</a:t>
            </a:r>
            <a:r>
              <a:rPr lang="pt-BR" sz="1100" b="0" i="0" u="none" strike="noStrike" baseline="0" dirty="0" err="1">
                <a:solidFill>
                  <a:srgbClr val="000080"/>
                </a:solidFill>
                <a:latin typeface="Courier New" panose="02070309020205020404" pitchFamily="49" charset="0"/>
              </a:rPr>
              <a:t>v_fim</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LOOP</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IF</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MOD</a:t>
            </a:r>
            <a:r>
              <a:rPr lang="pt-BR" sz="1100" b="0" i="0" u="none" strike="noStrike" baseline="0" dirty="0">
                <a:solidFill>
                  <a:srgbClr val="000080"/>
                </a:solidFill>
                <a:latin typeface="Courier New" panose="02070309020205020404" pitchFamily="49" charset="0"/>
              </a:rPr>
              <a:t>(</a:t>
            </a:r>
            <a:r>
              <a:rPr lang="pt-BR" sz="1100" b="0" i="0" u="none" strike="noStrike" baseline="0" dirty="0" err="1">
                <a:solidFill>
                  <a:srgbClr val="000080"/>
                </a:solidFill>
                <a:latin typeface="Courier New" panose="02070309020205020404" pitchFamily="49" charset="0"/>
              </a:rPr>
              <a:t>v_contador</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00FF"/>
                </a:solidFill>
                <a:latin typeface="Courier New" panose="02070309020205020404" pitchFamily="49" charset="0"/>
              </a:rPr>
              <a:t>2</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THEN</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Verifica se o número é par</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v_soma_pares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v_soma_pares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v_contador</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Soma o valor ao total dos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v_qtd_pares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v_qtd_pares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1</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Incrementa a quantidade de números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ELSE</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v_soma_impares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v_soma_impares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v_contador</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Soma o valor ao total dos ímpares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v_qtd_impares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v_qtd_impares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1</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Incrementa a quantidade de números ímpares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END</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IF</a:t>
            </a:r>
            <a:r>
              <a:rPr lang="pt-BR" sz="1100" b="0" i="0" u="none" strike="noStrike" baseline="0" dirty="0">
                <a:solidFill>
                  <a:srgbClr val="000080"/>
                </a:solidFill>
                <a:latin typeface="Courier New" panose="02070309020205020404" pitchFamily="49" charset="0"/>
              </a:rPr>
              <a:t>;</a:t>
            </a: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END</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LOOP</a:t>
            </a:r>
            <a:r>
              <a:rPr lang="pt-BR" sz="1100" b="0" i="0" u="none" strike="noStrike" baseline="0" dirty="0">
                <a:solidFill>
                  <a:srgbClr val="000080"/>
                </a:solidFill>
                <a:latin typeface="Courier New" panose="02070309020205020404" pitchFamily="49" charset="0"/>
              </a:rPr>
              <a:t>;</a:t>
            </a:r>
          </a:p>
          <a:p>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Calcular a média dos números pares</a:t>
            </a:r>
            <a:endParaRPr lang="pt-BR" sz="1100" b="0" i="0" u="none" strike="noStrike" baseline="0" dirty="0">
              <a:solidFill>
                <a:srgbClr val="000080"/>
              </a:solidFill>
              <a:latin typeface="Courier New" panose="02070309020205020404" pitchFamily="49" charset="0"/>
            </a:endParaRPr>
          </a:p>
          <a:p>
            <a:r>
              <a:rPr lang="en-US" sz="1100" b="0" i="0" u="none" strike="noStrike" baseline="0" dirty="0">
                <a:solidFill>
                  <a:srgbClr val="000080"/>
                </a:solidFill>
                <a:latin typeface="Courier New" panose="02070309020205020404" pitchFamily="49" charset="0"/>
              </a:rPr>
              <a:t>    </a:t>
            </a:r>
            <a:r>
              <a:rPr lang="en-US" sz="1100" b="0" i="0" u="none" strike="noStrike" baseline="0" dirty="0">
                <a:solidFill>
                  <a:srgbClr val="008080"/>
                </a:solidFill>
                <a:latin typeface="Courier New" panose="02070309020205020404" pitchFamily="49" charset="0"/>
              </a:rPr>
              <a:t>IF</a:t>
            </a:r>
            <a:r>
              <a:rPr lang="en-US" sz="1100" b="0" i="0" u="none" strike="noStrike" baseline="0" dirty="0">
                <a:solidFill>
                  <a:srgbClr val="000080"/>
                </a:solidFill>
                <a:latin typeface="Courier New" panose="02070309020205020404" pitchFamily="49" charset="0"/>
              </a:rPr>
              <a:t> </a:t>
            </a:r>
            <a:r>
              <a:rPr lang="en-US" sz="1100" b="0" i="0" u="none" strike="noStrike" baseline="0" dirty="0" err="1">
                <a:solidFill>
                  <a:srgbClr val="000080"/>
                </a:solidFill>
                <a:latin typeface="Courier New" panose="02070309020205020404" pitchFamily="49" charset="0"/>
              </a:rPr>
              <a:t>v_qtd_pares</a:t>
            </a:r>
            <a:r>
              <a:rPr lang="en-US" sz="1100" b="0" i="0" u="none" strike="noStrike" baseline="0" dirty="0">
                <a:solidFill>
                  <a:srgbClr val="000080"/>
                </a:solidFill>
                <a:latin typeface="Courier New" panose="02070309020205020404" pitchFamily="49" charset="0"/>
              </a:rPr>
              <a:t> &lt;&gt; </a:t>
            </a:r>
            <a:r>
              <a:rPr lang="en-US" sz="1100" b="0" i="0" u="none" strike="noStrike" baseline="0" dirty="0">
                <a:solidFill>
                  <a:srgbClr val="0000FF"/>
                </a:solidFill>
                <a:latin typeface="Courier New" panose="02070309020205020404" pitchFamily="49" charset="0"/>
              </a:rPr>
              <a:t>0</a:t>
            </a:r>
            <a:r>
              <a:rPr lang="en-US" sz="1100" b="0" i="0" u="none" strike="noStrike" baseline="0" dirty="0">
                <a:solidFill>
                  <a:srgbClr val="000080"/>
                </a:solidFill>
                <a:latin typeface="Courier New" panose="02070309020205020404" pitchFamily="49" charset="0"/>
              </a:rPr>
              <a:t> </a:t>
            </a:r>
            <a:r>
              <a:rPr lang="en-US" sz="1100" b="0" i="0" u="none" strike="noStrike" baseline="0" dirty="0">
                <a:solidFill>
                  <a:srgbClr val="008080"/>
                </a:solidFill>
                <a:latin typeface="Courier New" panose="02070309020205020404" pitchFamily="49" charset="0"/>
              </a:rPr>
              <a:t>THEN</a:t>
            </a:r>
            <a:endParaRPr lang="en-US"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v_media_pares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v_soma_pares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v_qtd_pares</a:t>
            </a:r>
            <a:r>
              <a:rPr lang="pt-BR" sz="1100" b="0" i="0" u="none" strike="noStrike" baseline="0" dirty="0">
                <a:solidFill>
                  <a:srgbClr val="000080"/>
                </a:solidFill>
                <a:latin typeface="Courier New" panose="02070309020205020404" pitchFamily="49" charset="0"/>
              </a:rPr>
              <a:t>;</a:t>
            </a: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ELSE</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err="1">
                <a:solidFill>
                  <a:srgbClr val="000080"/>
                </a:solidFill>
                <a:latin typeface="Courier New" panose="02070309020205020404" pitchFamily="49" charset="0"/>
              </a:rPr>
              <a:t>v_media_pares</a:t>
            </a:r>
            <a:r>
              <a:rPr lang="pt-BR" sz="1100" b="0" i="0" u="none" strike="noStrike" baseline="0" dirty="0">
                <a:solidFill>
                  <a:srgbClr val="000080"/>
                </a:solidFill>
                <a:latin typeface="Courier New" panose="02070309020205020404" pitchFamily="49" charset="0"/>
              </a:rPr>
              <a:t> := </a:t>
            </a:r>
            <a:r>
              <a:rPr lang="pt-BR" sz="1100" b="0" i="0" u="none" strike="noStrike" baseline="0" dirty="0">
                <a:solidFill>
                  <a:srgbClr val="0000FF"/>
                </a:solidFill>
                <a:latin typeface="Courier New" panose="02070309020205020404" pitchFamily="49" charset="0"/>
              </a:rPr>
              <a:t>0</a:t>
            </a:r>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Evita divisão por zero se não houver números pares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END</a:t>
            </a:r>
            <a:r>
              <a:rPr lang="pt-BR" sz="1100" b="0" i="0" u="none" strike="noStrike" baseline="0" dirty="0">
                <a:solidFill>
                  <a:srgbClr val="000080"/>
                </a:solidFill>
                <a:latin typeface="Courier New" panose="02070309020205020404" pitchFamily="49" charset="0"/>
              </a:rPr>
              <a:t> </a:t>
            </a:r>
            <a:r>
              <a:rPr lang="pt-BR" sz="1100" b="0" i="0" u="none" strike="noStrike" baseline="0" dirty="0">
                <a:solidFill>
                  <a:srgbClr val="008080"/>
                </a:solidFill>
                <a:latin typeface="Courier New" panose="02070309020205020404" pitchFamily="49" charset="0"/>
              </a:rPr>
              <a:t>IF</a:t>
            </a:r>
            <a:r>
              <a:rPr lang="pt-BR" sz="1100" b="0" i="0" u="none" strike="noStrike" baseline="0" dirty="0">
                <a:solidFill>
                  <a:srgbClr val="000080"/>
                </a:solidFill>
                <a:latin typeface="Courier New" panose="02070309020205020404" pitchFamily="49" charset="0"/>
              </a:rPr>
              <a:t>;</a:t>
            </a:r>
          </a:p>
          <a:p>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a:t>
            </a:r>
            <a:r>
              <a:rPr lang="pt-BR" sz="1100" b="0" i="1" u="none" strike="noStrike" baseline="0" dirty="0">
                <a:solidFill>
                  <a:srgbClr val="FF0000"/>
                </a:solidFill>
                <a:latin typeface="Courier New" panose="02070309020205020404" pitchFamily="49" charset="0"/>
              </a:rPr>
              <a:t>-- Exibição dos resultados</a:t>
            </a:r>
            <a:endParaRPr lang="pt-BR" sz="1100" b="0" i="0" u="none" strike="noStrike" baseline="0" dirty="0">
              <a:solidFill>
                <a:srgbClr val="000080"/>
              </a:solidFill>
              <a:latin typeface="Courier New" panose="02070309020205020404" pitchFamily="49" charset="0"/>
            </a:endParaRPr>
          </a:p>
          <a:p>
            <a:r>
              <a:rPr lang="pt-BR" sz="1100" b="0" i="0" u="none" strike="noStrike" baseline="0" dirty="0">
                <a:solidFill>
                  <a:srgbClr val="000080"/>
                </a:solidFill>
                <a:latin typeface="Courier New" panose="02070309020205020404" pitchFamily="49" charset="0"/>
              </a:rPr>
              <a:t>    DBMS_OUTPUT.PUT_LINE(</a:t>
            </a:r>
            <a:r>
              <a:rPr lang="pt-BR" sz="1100" b="0" i="0" u="none" strike="noStrike" baseline="0" dirty="0">
                <a:solidFill>
                  <a:srgbClr val="0000FF"/>
                </a:solidFill>
                <a:latin typeface="Courier New" panose="02070309020205020404" pitchFamily="49" charset="0"/>
              </a:rPr>
              <a:t>'Soma dos números ímpares: '</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v_soma_impares</a:t>
            </a:r>
            <a:r>
              <a:rPr lang="pt-BR" sz="1100" b="0" i="0" u="none" strike="noStrike" baseline="0" dirty="0">
                <a:solidFill>
                  <a:srgbClr val="000080"/>
                </a:solidFill>
                <a:latin typeface="Courier New" panose="02070309020205020404" pitchFamily="49" charset="0"/>
              </a:rPr>
              <a:t>);</a:t>
            </a:r>
          </a:p>
          <a:p>
            <a:r>
              <a:rPr lang="pt-BR" sz="1100" b="0" i="0" u="none" strike="noStrike" baseline="0" dirty="0">
                <a:solidFill>
                  <a:srgbClr val="000080"/>
                </a:solidFill>
                <a:latin typeface="Courier New" panose="02070309020205020404" pitchFamily="49" charset="0"/>
              </a:rPr>
              <a:t>    DBMS_OUTPUT.PUT_LINE(</a:t>
            </a:r>
            <a:r>
              <a:rPr lang="pt-BR" sz="1100" b="0" i="0" u="none" strike="noStrike" baseline="0" dirty="0">
                <a:solidFill>
                  <a:srgbClr val="0000FF"/>
                </a:solidFill>
                <a:latin typeface="Courier New" panose="02070309020205020404" pitchFamily="49" charset="0"/>
              </a:rPr>
              <a:t>'Média dos números pares: '</a:t>
            </a:r>
            <a:r>
              <a:rPr lang="pt-BR" sz="1100" b="0" i="0" u="none" strike="noStrike" baseline="0" dirty="0">
                <a:solidFill>
                  <a:srgbClr val="000080"/>
                </a:solidFill>
                <a:latin typeface="Courier New" panose="02070309020205020404" pitchFamily="49" charset="0"/>
              </a:rPr>
              <a:t> || </a:t>
            </a:r>
            <a:r>
              <a:rPr lang="pt-BR" sz="1100" b="0" i="0" u="none" strike="noStrike" baseline="0" dirty="0" err="1">
                <a:solidFill>
                  <a:srgbClr val="000080"/>
                </a:solidFill>
                <a:latin typeface="Courier New" panose="02070309020205020404" pitchFamily="49" charset="0"/>
              </a:rPr>
              <a:t>v_media_pares</a:t>
            </a:r>
            <a:r>
              <a:rPr lang="pt-BR" sz="1100" b="0" i="0" u="none" strike="noStrike" baseline="0" dirty="0">
                <a:solidFill>
                  <a:srgbClr val="000080"/>
                </a:solidFill>
                <a:latin typeface="Courier New" panose="02070309020205020404" pitchFamily="49" charset="0"/>
              </a:rPr>
              <a:t>);</a:t>
            </a:r>
          </a:p>
          <a:p>
            <a:r>
              <a:rPr lang="pt-BR" sz="1100" b="0" i="0" u="none" strike="noStrike" baseline="0" dirty="0">
                <a:solidFill>
                  <a:srgbClr val="008080"/>
                </a:solidFill>
                <a:latin typeface="Courier New" panose="02070309020205020404" pitchFamily="49" charset="0"/>
              </a:rPr>
              <a:t>END</a:t>
            </a:r>
            <a:r>
              <a:rPr lang="pt-BR" sz="1100" b="0" i="0" u="none" strike="noStrike" baseline="0" dirty="0">
                <a:solidFill>
                  <a:srgbClr val="000080"/>
                </a:solidFill>
                <a:latin typeface="Courier New" panose="02070309020205020404" pitchFamily="49" charset="0"/>
              </a:rPr>
              <a:t>;</a:t>
            </a:r>
          </a:p>
          <a:p>
            <a:r>
              <a:rPr lang="pt-BR" sz="1100" b="0" i="0" u="none" strike="noStrike" baseline="0" dirty="0">
                <a:solidFill>
                  <a:srgbClr val="000080"/>
                </a:solidFill>
                <a:highlight>
                  <a:srgbClr val="FFFFFF"/>
                </a:highlight>
                <a:latin typeface="Courier New" panose="02070309020205020404" pitchFamily="49" charset="0"/>
              </a:rPr>
              <a:t>/</a:t>
            </a:r>
          </a:p>
        </p:txBody>
      </p:sp>
    </p:spTree>
    <p:extLst>
      <p:ext uri="{BB962C8B-B14F-4D97-AF65-F5344CB8AC3E}">
        <p14:creationId xmlns:p14="http://schemas.microsoft.com/office/powerpoint/2010/main" val="2542290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2" name="CaixaDeTexto 1">
            <a:extLst>
              <a:ext uri="{FF2B5EF4-FFF2-40B4-BE49-F238E27FC236}">
                <a16:creationId xmlns:a16="http://schemas.microsoft.com/office/drawing/2014/main" id="{E72153DD-27D9-00F9-611E-83CEA6F8C926}"/>
              </a:ext>
            </a:extLst>
          </p:cNvPr>
          <p:cNvSpPr txBox="1"/>
          <p:nvPr/>
        </p:nvSpPr>
        <p:spPr>
          <a:xfrm>
            <a:off x="2053087" y="2340040"/>
            <a:ext cx="8009116" cy="369332"/>
          </a:xfrm>
          <a:prstGeom prst="rect">
            <a:avLst/>
          </a:prstGeom>
          <a:noFill/>
        </p:spPr>
        <p:txBody>
          <a:bodyPr wrap="none" rtlCol="0">
            <a:spAutoFit/>
          </a:bodyPr>
          <a:lstStyle/>
          <a:p>
            <a:r>
              <a:rPr lang="pt-BR" dirty="0">
                <a:solidFill>
                  <a:schemeClr val="bg1"/>
                </a:solidFill>
              </a:rPr>
              <a:t>Lista de exercícios para subir no portal na entrega de trabalhos até dia 24/03/2024  </a:t>
            </a:r>
          </a:p>
        </p:txBody>
      </p:sp>
    </p:spTree>
    <p:extLst>
      <p:ext uri="{BB962C8B-B14F-4D97-AF65-F5344CB8AC3E}">
        <p14:creationId xmlns:p14="http://schemas.microsoft.com/office/powerpoint/2010/main" val="2920321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35365" y="330485"/>
            <a:ext cx="1333686" cy="466790"/>
          </a:xfrm>
          <a:prstGeom prst="rect">
            <a:avLst/>
          </a:prstGeom>
        </p:spPr>
      </p:pic>
      <p:pic>
        <p:nvPicPr>
          <p:cNvPr id="5" name="Imagem 4"/>
          <p:cNvPicPr>
            <a:picLocks noChangeAspect="1"/>
          </p:cNvPicPr>
          <p:nvPr/>
        </p:nvPicPr>
        <p:blipFill>
          <a:blip r:embed="rId3"/>
          <a:stretch>
            <a:fillRect/>
          </a:stretch>
        </p:blipFill>
        <p:spPr>
          <a:xfrm>
            <a:off x="1569051" y="330485"/>
            <a:ext cx="1943371" cy="476316"/>
          </a:xfrm>
          <a:prstGeom prst="rect">
            <a:avLst/>
          </a:prstGeom>
        </p:spPr>
      </p:pic>
      <p:pic>
        <p:nvPicPr>
          <p:cNvPr id="6" name="Imagem 5"/>
          <p:cNvPicPr>
            <a:picLocks noChangeAspect="1"/>
          </p:cNvPicPr>
          <p:nvPr/>
        </p:nvPicPr>
        <p:blipFill>
          <a:blip r:embed="rId4"/>
          <a:stretch>
            <a:fillRect/>
          </a:stretch>
        </p:blipFill>
        <p:spPr>
          <a:xfrm>
            <a:off x="8873290" y="330485"/>
            <a:ext cx="2857899" cy="1000265"/>
          </a:xfrm>
          <a:prstGeom prst="rect">
            <a:avLst/>
          </a:prstGeom>
        </p:spPr>
      </p:pic>
      <p:sp>
        <p:nvSpPr>
          <p:cNvPr id="8" name="CaixaDeTexto 7"/>
          <p:cNvSpPr txBox="1"/>
          <p:nvPr/>
        </p:nvSpPr>
        <p:spPr>
          <a:xfrm>
            <a:off x="1182624" y="2949283"/>
            <a:ext cx="4144661" cy="769441"/>
          </a:xfrm>
          <a:prstGeom prst="rect">
            <a:avLst/>
          </a:prstGeom>
          <a:noFill/>
        </p:spPr>
        <p:txBody>
          <a:bodyPr wrap="none" rtlCol="0">
            <a:spAutoFit/>
          </a:bodyPr>
          <a:lstStyle/>
          <a:p>
            <a:r>
              <a:rPr lang="pt-BR" sz="4400" dirty="0">
                <a:solidFill>
                  <a:schemeClr val="bg1"/>
                </a:solidFill>
              </a:rPr>
              <a:t>Tire suas Dúvidas</a:t>
            </a:r>
          </a:p>
        </p:txBody>
      </p:sp>
      <p:pic>
        <p:nvPicPr>
          <p:cNvPr id="7" name="Imagem 6"/>
          <p:cNvPicPr>
            <a:picLocks noChangeAspect="1"/>
          </p:cNvPicPr>
          <p:nvPr/>
        </p:nvPicPr>
        <p:blipFill>
          <a:blip r:embed="rId5"/>
          <a:stretch>
            <a:fillRect/>
          </a:stretch>
        </p:blipFill>
        <p:spPr>
          <a:xfrm>
            <a:off x="6769756" y="2445690"/>
            <a:ext cx="3334215" cy="1991003"/>
          </a:xfrm>
          <a:prstGeom prst="rect">
            <a:avLst/>
          </a:prstGeom>
        </p:spPr>
      </p:pic>
    </p:spTree>
    <p:extLst>
      <p:ext uri="{BB962C8B-B14F-4D97-AF65-F5344CB8AC3E}">
        <p14:creationId xmlns:p14="http://schemas.microsoft.com/office/powerpoint/2010/main" val="2181216258"/>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1103</TotalTime>
  <Words>1662</Words>
  <Application>Microsoft Office PowerPoint</Application>
  <PresentationFormat>Widescreen</PresentationFormat>
  <Paragraphs>163</Paragraphs>
  <Slides>21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21</vt:i4>
      </vt:variant>
    </vt:vector>
  </HeadingPairs>
  <TitlesOfParts>
    <vt:vector size="27" baseType="lpstr">
      <vt:lpstr>Arial</vt:lpstr>
      <vt:lpstr>Calibri</vt:lpstr>
      <vt:lpstr>Calibri Light</vt:lpstr>
      <vt:lpstr>Courier New</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DELL</dc:creator>
  <cp:lastModifiedBy>SANTOS Vergilio V</cp:lastModifiedBy>
  <cp:revision>62</cp:revision>
  <dcterms:created xsi:type="dcterms:W3CDTF">2022-02-11T21:57:01Z</dcterms:created>
  <dcterms:modified xsi:type="dcterms:W3CDTF">2024-03-22T19:55:39Z</dcterms:modified>
</cp:coreProperties>
</file>